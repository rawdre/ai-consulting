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1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83"/>
  </p:normalViewPr>
  <p:slideViewPr>
    <p:cSldViewPr snapToGrid="0" snapToObjects="1">
      <p:cViewPr>
        <p:scale>
          <a:sx n="90" d="100"/>
          <a:sy n="90" d="100"/>
        </p:scale>
        <p:origin x="89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E199BF-B924-B24D-9C49-3B718C5F1056}" type="datetimeFigureOut">
              <a:rPr lang="pt-BR" smtClean="0"/>
              <a:t>02/02/17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os estilos de texto mestres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49CBD-C6FC-4941-BC75-9015E6D1714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1298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D49CBD-C6FC-4941-BC75-9015E6D17144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096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D49CBD-C6FC-4941-BC75-9015E6D17144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9569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D49CBD-C6FC-4941-BC75-9015E6D17144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985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D49CBD-C6FC-4941-BC75-9015E6D17144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46807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D49CBD-C6FC-4941-BC75-9015E6D17144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3729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D49CBD-C6FC-4941-BC75-9015E6D17144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16402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D49CBD-C6FC-4941-BC75-9015E6D17144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96495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D49CBD-C6FC-4941-BC75-9015E6D17144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58730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D49CBD-C6FC-4941-BC75-9015E6D17144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2836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D49CBD-C6FC-4941-BC75-9015E6D17144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54682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D49CBD-C6FC-4941-BC75-9015E6D17144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04921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D49CBD-C6FC-4941-BC75-9015E6D17144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11469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D49CBD-C6FC-4941-BC75-9015E6D17144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43617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D49CBD-C6FC-4941-BC75-9015E6D17144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43681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D49CBD-C6FC-4941-BC75-9015E6D17144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33816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D49CBD-C6FC-4941-BC75-9015E6D17144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34164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D49CBD-C6FC-4941-BC75-9015E6D17144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08810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D49CBD-C6FC-4941-BC75-9015E6D17144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937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D49CBD-C6FC-4941-BC75-9015E6D17144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00876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D49CBD-C6FC-4941-BC75-9015E6D17144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0873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D49CBD-C6FC-4941-BC75-9015E6D17144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6994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 smtClean="0"/>
              <a:t>Clique para editar estilo do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2B54A-ADF5-C747-ADB5-0018C084CC8A}" type="datetimeFigureOut">
              <a:rPr lang="pt-BR" smtClean="0"/>
              <a:t>02/02/17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D4BC0-B9E5-2241-B384-79103AE1E3C6}" type="slidenum">
              <a:rPr lang="pt-BR" smtClean="0"/>
              <a:t>‹n.º›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estilo do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de texto mestres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2B54A-ADF5-C747-ADB5-0018C084CC8A}" type="datetimeFigureOut">
              <a:rPr lang="pt-BR" smtClean="0"/>
              <a:t>02/02/17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D4BC0-B9E5-2241-B384-79103AE1E3C6}" type="slidenum">
              <a:rPr lang="pt-BR" smtClean="0"/>
              <a:t>‹n.º›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estilo do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2B54A-ADF5-C747-ADB5-0018C084CC8A}" type="datetimeFigureOut">
              <a:rPr lang="pt-BR" smtClean="0"/>
              <a:t>02/02/17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D4BC0-B9E5-2241-B384-79103AE1E3C6}" type="slidenum">
              <a:rPr lang="pt-BR" smtClean="0"/>
              <a:t>‹n.º›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estilo do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 smtClean="0"/>
              <a:t>Clique para editar os estilos de texto mestres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 smtClean="0"/>
              <a:t>Clique para editar os estilos de texto mestres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2B54A-ADF5-C747-ADB5-0018C084CC8A}" type="datetimeFigureOut">
              <a:rPr lang="pt-BR" smtClean="0"/>
              <a:t>02/02/17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D4BC0-B9E5-2241-B384-79103AE1E3C6}" type="slidenum">
              <a:rPr lang="pt-BR" smtClean="0"/>
              <a:t>‹n.º›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estilo do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os estilos de texto mestres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os estilos de texto mestres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2B54A-ADF5-C747-ADB5-0018C084CC8A}" type="datetimeFigureOut">
              <a:rPr lang="pt-BR" smtClean="0"/>
              <a:t>02/02/17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D4BC0-B9E5-2241-B384-79103AE1E3C6}" type="slidenum">
              <a:rPr lang="pt-BR" smtClean="0"/>
              <a:t>‹n.º›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 smtClean="0"/>
              <a:t>Clique para editar estilo do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2B54A-ADF5-C747-ADB5-0018C084CC8A}" type="datetimeFigureOut">
              <a:rPr lang="pt-BR" smtClean="0"/>
              <a:t>02/02/17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D4BC0-B9E5-2241-B384-79103AE1E3C6}" type="slidenum">
              <a:rPr lang="pt-BR" smtClean="0"/>
              <a:t>‹n.º›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2B54A-ADF5-C747-ADB5-0018C084CC8A}" type="datetimeFigureOut">
              <a:rPr lang="pt-BR" smtClean="0"/>
              <a:t>02/02/17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D4BC0-B9E5-2241-B384-79103AE1E3C6}" type="slidenum">
              <a:rPr lang="pt-BR" smtClean="0"/>
              <a:t>‹n.º›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 smtClean="0"/>
              <a:t>Clique para editar estilo do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os estilos de texto mestres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 smtClean="0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2B54A-ADF5-C747-ADB5-0018C084CC8A}" type="datetimeFigureOut">
              <a:rPr lang="pt-BR" smtClean="0"/>
              <a:t>02/02/17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D4BC0-B9E5-2241-B384-79103AE1E3C6}" type="slidenum">
              <a:rPr lang="pt-BR" smtClean="0"/>
              <a:t>‹n.º›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estilo do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Arraste a imagem para o espaço reservado ou clique no ícone para adicionar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de texto mestres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D4BC0-B9E5-2241-B384-79103AE1E3C6}" type="slidenum">
              <a:rPr lang="pt-BR" smtClean="0"/>
              <a:t>‹n.º›</a:t>
            </a:fld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2B54A-ADF5-C747-ADB5-0018C084CC8A}" type="datetimeFigureOut">
              <a:rPr lang="pt-BR" smtClean="0"/>
              <a:t>02/02/17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 smtClean="0"/>
              <a:t>Clique para editar estilo do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2B54A-ADF5-C747-ADB5-0018C084CC8A}" type="datetimeFigureOut">
              <a:rPr lang="pt-BR" smtClean="0"/>
              <a:t>02/02/17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D4BC0-B9E5-2241-B384-79103AE1E3C6}" type="slidenum">
              <a:rPr lang="pt-BR" smtClean="0"/>
              <a:t>‹n.º›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 smtClean="0"/>
              <a:t>Clique para editar estilo do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2B54A-ADF5-C747-ADB5-0018C084CC8A}" type="datetimeFigureOut">
              <a:rPr lang="pt-BR" smtClean="0"/>
              <a:t>02/02/17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D4BC0-B9E5-2241-B384-79103AE1E3C6}" type="slidenum">
              <a:rPr lang="pt-BR" smtClean="0"/>
              <a:t>‹n.º›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 smtClean="0"/>
              <a:t>Clique para editar estilo do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2B54A-ADF5-C747-ADB5-0018C084CC8A}" type="datetimeFigureOut">
              <a:rPr lang="pt-BR" smtClean="0"/>
              <a:t>02/02/17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D4BC0-B9E5-2241-B384-79103AE1E3C6}" type="slidenum">
              <a:rPr lang="pt-BR" smtClean="0"/>
              <a:t>‹n.º›</a:t>
            </a:fld>
            <a:endParaRPr 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 smtClean="0"/>
              <a:t>Clique para editar estilo do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2B54A-ADF5-C747-ADB5-0018C084CC8A}" type="datetimeFigureOut">
              <a:rPr lang="pt-BR" smtClean="0"/>
              <a:t>02/02/17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D4BC0-B9E5-2241-B384-79103AE1E3C6}" type="slidenum">
              <a:rPr lang="pt-BR" smtClean="0"/>
              <a:t>‹n.º›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 smtClean="0"/>
              <a:t>Clique para editar estilo do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2B54A-ADF5-C747-ADB5-0018C084CC8A}" type="datetimeFigureOut">
              <a:rPr lang="pt-BR" smtClean="0"/>
              <a:t>02/02/17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D4BC0-B9E5-2241-B384-79103AE1E3C6}" type="slidenum">
              <a:rPr lang="pt-BR" smtClean="0"/>
              <a:t>‹n.º›</a:t>
            </a:fld>
            <a:endParaRPr lang="pt-B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estilo do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de texto mestres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2B54A-ADF5-C747-ADB5-0018C084CC8A}" type="datetimeFigureOut">
              <a:rPr lang="pt-BR" smtClean="0"/>
              <a:t>02/02/17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D4BC0-B9E5-2241-B384-79103AE1E3C6}" type="slidenum">
              <a:rPr lang="pt-BR" smtClean="0"/>
              <a:t>‹n.º›</a:t>
            </a:fld>
            <a:endParaRPr lang="pt-B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 smtClean="0"/>
              <a:t>Clique para editar estilo do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de texto mestres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2B54A-ADF5-C747-ADB5-0018C084CC8A}" type="datetimeFigureOut">
              <a:rPr lang="pt-BR" smtClean="0"/>
              <a:t>02/02/17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D4BC0-B9E5-2241-B384-79103AE1E3C6}" type="slidenum">
              <a:rPr lang="pt-BR" smtClean="0"/>
              <a:t>‹n.º›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estilo do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de texto mestres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82B54A-ADF5-C747-ADB5-0018C084CC8A}" type="datetimeFigureOut">
              <a:rPr lang="pt-BR" smtClean="0"/>
              <a:t>02/02/17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C3D4BC0-B9E5-2241-B384-79103AE1E3C6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83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971800" y="2301534"/>
            <a:ext cx="4383617" cy="943504"/>
          </a:xfrm>
        </p:spPr>
        <p:txBody>
          <a:bodyPr>
            <a:normAutofit/>
          </a:bodyPr>
          <a:lstStyle/>
          <a:p>
            <a:r>
              <a:rPr lang="pt-BR" sz="5400" dirty="0" smtClean="0">
                <a:latin typeface="Trebuchet MS" charset="0"/>
                <a:ea typeface="Trebuchet MS" charset="0"/>
                <a:cs typeface="Trebuchet MS" charset="0"/>
              </a:rPr>
              <a:t>Book </a:t>
            </a:r>
            <a:r>
              <a:rPr lang="pt-BR" sz="5400" dirty="0" err="1" smtClean="0">
                <a:latin typeface="Trebuchet MS" charset="0"/>
                <a:ea typeface="Trebuchet MS" charset="0"/>
                <a:cs typeface="Trebuchet MS" charset="0"/>
              </a:rPr>
              <a:t>Three</a:t>
            </a:r>
            <a:endParaRPr lang="pt-BR" sz="54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14500" y="3245038"/>
            <a:ext cx="7766936" cy="1807042"/>
          </a:xfrm>
        </p:spPr>
        <p:txBody>
          <a:bodyPr>
            <a:noAutofit/>
          </a:bodyPr>
          <a:lstStyle/>
          <a:p>
            <a:pPr algn="ctr"/>
            <a:r>
              <a:rPr lang="pt-BR" sz="5400" dirty="0" smtClean="0">
                <a:solidFill>
                  <a:schemeClr val="accent1">
                    <a:lumMod val="75000"/>
                  </a:schemeClr>
                </a:solidFill>
              </a:rPr>
              <a:t>Fale inglês rápido e com confiança!</a:t>
            </a:r>
            <a:br>
              <a:rPr lang="pt-BR" sz="5400" dirty="0" smtClean="0">
                <a:solidFill>
                  <a:schemeClr val="accent1">
                    <a:lumMod val="75000"/>
                  </a:schemeClr>
                </a:solidFill>
              </a:rPr>
            </a:br>
            <a:endParaRPr lang="pt-BR" sz="54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5467" y="14288"/>
            <a:ext cx="4475009" cy="313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64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-385763" y="0"/>
            <a:ext cx="3967163" cy="675564"/>
          </a:xfrm>
        </p:spPr>
        <p:txBody>
          <a:bodyPr>
            <a:normAutofit/>
          </a:bodyPr>
          <a:lstStyle/>
          <a:p>
            <a:r>
              <a:rPr lang="pt-BR" sz="3600" b="1" dirty="0" smtClean="0">
                <a:latin typeface="Trebuchet MS" charset="0"/>
                <a:ea typeface="Trebuchet MS" charset="0"/>
                <a:cs typeface="Trebuchet MS" charset="0"/>
              </a:rPr>
              <a:t>BOOK THREE</a:t>
            </a:r>
            <a:endParaRPr lang="pt-BR" sz="3600" b="1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0" y="1988918"/>
            <a:ext cx="9144000" cy="4503957"/>
          </a:xfrm>
        </p:spPr>
        <p:txBody>
          <a:bodyPr>
            <a:noAutofit/>
          </a:bodyPr>
          <a:lstStyle/>
          <a:p>
            <a:pPr marL="342900" indent="-342900" algn="l">
              <a:buFont typeface="Wingdings" charset="2"/>
              <a:buChar char="Ø"/>
            </a:pPr>
            <a:r>
              <a:rPr lang="pt-BR" sz="2400" dirty="0" smtClean="0">
                <a:solidFill>
                  <a:srgbClr val="FF0000"/>
                </a:solidFill>
              </a:rPr>
              <a:t>HOW </a:t>
            </a:r>
            <a:r>
              <a:rPr lang="pt-BR" sz="2400" dirty="0">
                <a:solidFill>
                  <a:srgbClr val="FF0000"/>
                </a:solidFill>
              </a:rPr>
              <a:t>TO SPEAK ENGLISH FAST</a:t>
            </a:r>
            <a:r>
              <a:rPr lang="pt-BR" sz="2400" dirty="0" smtClean="0">
                <a:solidFill>
                  <a:srgbClr val="FF0000"/>
                </a:solidFill>
              </a:rPr>
              <a:t>...</a:t>
            </a:r>
            <a:endParaRPr lang="pt-BR" sz="2400" dirty="0">
              <a:solidFill>
                <a:srgbClr val="FF0000"/>
              </a:solidFill>
            </a:endParaRPr>
          </a:p>
          <a:p>
            <a:pPr marL="342900" indent="-342900" algn="l">
              <a:buFont typeface="Wingdings" charset="2"/>
              <a:buChar char="Ø"/>
            </a:pPr>
            <a:r>
              <a:rPr lang="pt-BR" sz="2400" dirty="0" smtClean="0">
                <a:solidFill>
                  <a:schemeClr val="bg2">
                    <a:lumMod val="10000"/>
                  </a:schemeClr>
                </a:solidFill>
              </a:rPr>
              <a:t>Fale </a:t>
            </a:r>
            <a:r>
              <a:rPr lang="pt-BR" sz="2400" dirty="0">
                <a:solidFill>
                  <a:schemeClr val="bg2">
                    <a:lumMod val="10000"/>
                  </a:schemeClr>
                </a:solidFill>
              </a:rPr>
              <a:t>inglês rápido e com confiança, na </a:t>
            </a:r>
            <a:r>
              <a:rPr lang="pt-BR" sz="2400" dirty="0" err="1">
                <a:solidFill>
                  <a:schemeClr val="bg2">
                    <a:lumMod val="10000"/>
                  </a:schemeClr>
                </a:solidFill>
              </a:rPr>
              <a:t>Raw</a:t>
            </a:r>
            <a:r>
              <a:rPr lang="pt-BR" sz="24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pt-BR" sz="2400" dirty="0" err="1">
                <a:solidFill>
                  <a:schemeClr val="bg2">
                    <a:lumMod val="10000"/>
                  </a:schemeClr>
                </a:solidFill>
              </a:rPr>
              <a:t>English</a:t>
            </a:r>
            <a:r>
              <a:rPr lang="pt-BR" sz="24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pt-BR" sz="2400" dirty="0" err="1">
                <a:solidFill>
                  <a:schemeClr val="bg2">
                    <a:lumMod val="10000"/>
                  </a:schemeClr>
                </a:solidFill>
              </a:rPr>
              <a:t>consultant</a:t>
            </a:r>
            <a:r>
              <a:rPr lang="pt-BR" sz="2400" dirty="0">
                <a:solidFill>
                  <a:schemeClr val="bg2">
                    <a:lumMod val="10000"/>
                  </a:schemeClr>
                </a:solidFill>
              </a:rPr>
              <a:t> você </a:t>
            </a:r>
            <a:r>
              <a:rPr lang="pt-BR" sz="2400" dirty="0" smtClean="0">
                <a:solidFill>
                  <a:schemeClr val="bg2">
                    <a:lumMod val="10000"/>
                  </a:schemeClr>
                </a:solidFill>
              </a:rPr>
              <a:t>  aprende </a:t>
            </a:r>
            <a:r>
              <a:rPr lang="pt-BR" sz="2400" dirty="0">
                <a:solidFill>
                  <a:schemeClr val="bg2">
                    <a:lumMod val="10000"/>
                  </a:schemeClr>
                </a:solidFill>
              </a:rPr>
              <a:t>inglês da forma correta e com 100% de comunicação oral...</a:t>
            </a:r>
          </a:p>
          <a:p>
            <a:pPr marL="342900" indent="-342900" algn="l">
              <a:buFont typeface="Wingdings" charset="2"/>
              <a:buChar char="Ø"/>
            </a:pPr>
            <a:r>
              <a:rPr lang="pt-BR" sz="2400" dirty="0">
                <a:solidFill>
                  <a:srgbClr val="FF0000"/>
                </a:solidFill>
              </a:rPr>
              <a:t>TO EDUCATE PEOPLE IN THE ENGLISH LANGUAGE IN A FAST AND PROPER WAY...</a:t>
            </a:r>
          </a:p>
          <a:p>
            <a:pPr marL="342900" indent="-342900" algn="l">
              <a:buFont typeface="Wingdings" charset="2"/>
              <a:buChar char="Ø"/>
            </a:pPr>
            <a:r>
              <a:rPr lang="pt-BR" sz="2400" dirty="0">
                <a:solidFill>
                  <a:schemeClr val="bg2">
                    <a:lumMod val="10000"/>
                  </a:schemeClr>
                </a:solidFill>
              </a:rPr>
              <a:t>Educar pessoas sobre a língua Inglesa rapidamente e na maneira correta...</a:t>
            </a:r>
          </a:p>
          <a:p>
            <a:pPr marL="342900" indent="-342900" algn="l">
              <a:buFont typeface="Wingdings" charset="2"/>
              <a:buChar char="Ø"/>
            </a:pPr>
            <a:endParaRPr lang="pt-BR" sz="24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14800" cy="365125"/>
          </a:xfrm>
        </p:spPr>
        <p:txBody>
          <a:bodyPr/>
          <a:lstStyle/>
          <a:p>
            <a:r>
              <a:rPr lang="pt-BR" sz="2000" dirty="0" err="1" smtClean="0">
                <a:solidFill>
                  <a:schemeClr val="tx1"/>
                </a:solidFill>
              </a:rPr>
              <a:t>www.rawenglish.com.br</a:t>
            </a:r>
            <a:endParaRPr lang="pt-BR" sz="2000" dirty="0">
              <a:solidFill>
                <a:schemeClr val="tx1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892" y="0"/>
            <a:ext cx="4475009" cy="313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68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86212" y="2609231"/>
            <a:ext cx="8258175" cy="1531376"/>
          </a:xfrm>
        </p:spPr>
        <p:txBody>
          <a:bodyPr>
            <a:noAutofit/>
          </a:bodyPr>
          <a:lstStyle/>
          <a:p>
            <a:pPr marL="457200" indent="-457200" algn="l">
              <a:buFont typeface="Wingdings" charset="2"/>
              <a:buChar char="Ø"/>
            </a:pP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Use-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used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prepare-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prepared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spend-spent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feel-felt</a:t>
            </a:r>
            <a:endParaRPr lang="pt-BR" sz="32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  <a:p>
            <a:pPr algn="l"/>
            <a:endParaRPr lang="pt-BR" sz="5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-533400" y="6369997"/>
            <a:ext cx="4114800" cy="365125"/>
          </a:xfrm>
        </p:spPr>
        <p:txBody>
          <a:bodyPr/>
          <a:lstStyle/>
          <a:p>
            <a:r>
              <a:rPr lang="pt-BR" sz="20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www.rawenglish.com.br</a:t>
            </a:r>
            <a:endParaRPr lang="pt-BR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5467" y="0"/>
            <a:ext cx="4475009" cy="3130737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73877" y="394378"/>
            <a:ext cx="27093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LESSON ONE</a:t>
            </a:r>
            <a:endParaRPr lang="pt-BR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73877" y="1055246"/>
            <a:ext cx="13012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Verbs</a:t>
            </a:r>
            <a:endParaRPr lang="pt-BR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9744076" y="5442460"/>
            <a:ext cx="1996059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600" dirty="0" smtClean="0">
                <a:latin typeface="Trebuchet MS" charset="0"/>
                <a:ea typeface="Trebuchet MS" charset="0"/>
                <a:cs typeface="Trebuchet MS" charset="0"/>
              </a:rPr>
              <a:t>USED TO </a:t>
            </a:r>
          </a:p>
          <a:p>
            <a:pPr algn="ctr"/>
            <a:r>
              <a:rPr lang="pt-BR" sz="2600" dirty="0" smtClean="0">
                <a:latin typeface="Trebuchet MS" charset="0"/>
                <a:ea typeface="Trebuchet MS" charset="0"/>
                <a:cs typeface="Trebuchet MS" charset="0"/>
              </a:rPr>
              <a:t>+</a:t>
            </a:r>
          </a:p>
          <a:p>
            <a:r>
              <a:rPr lang="pt-BR" sz="2600" dirty="0" smtClean="0">
                <a:latin typeface="Trebuchet MS" charset="0"/>
                <a:ea typeface="Trebuchet MS" charset="0"/>
                <a:cs typeface="Trebuchet MS" charset="0"/>
              </a:rPr>
              <a:t>HOW OFTEN</a:t>
            </a:r>
            <a:endParaRPr lang="pt-BR" sz="2600" dirty="0">
              <a:latin typeface="Trebuchet MS" charset="0"/>
              <a:ea typeface="Trebuchet MS" charset="0"/>
              <a:cs typeface="Trebuchet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156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-162073" y="201896"/>
            <a:ext cx="3086100" cy="943504"/>
          </a:xfrm>
        </p:spPr>
        <p:txBody>
          <a:bodyPr>
            <a:normAutofit/>
          </a:bodyPr>
          <a:lstStyle/>
          <a:p>
            <a:r>
              <a:rPr lang="pt-BR" sz="36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LESSON</a:t>
            </a:r>
            <a:r>
              <a:rPr lang="pt-BR" sz="54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6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ONE</a:t>
            </a:r>
            <a:endParaRPr lang="pt-BR" sz="3600" dirty="0">
              <a:solidFill>
                <a:schemeClr val="tx1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-19050" y="6380908"/>
            <a:ext cx="4114800" cy="365125"/>
          </a:xfrm>
        </p:spPr>
        <p:txBody>
          <a:bodyPr/>
          <a:lstStyle/>
          <a:p>
            <a:r>
              <a:rPr lang="pt-BR" sz="2000" dirty="0" err="1" smtClean="0">
                <a:solidFill>
                  <a:schemeClr val="tx1"/>
                </a:solidFill>
              </a:rPr>
              <a:t>www.rawenglish.com.br</a:t>
            </a:r>
            <a:endParaRPr lang="pt-BR" sz="2000" dirty="0">
              <a:solidFill>
                <a:schemeClr val="tx1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4042" y="116250"/>
            <a:ext cx="4475009" cy="3130737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45389" y="1096844"/>
            <a:ext cx="2192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 err="1" smtClean="0">
                <a:latin typeface="Trebuchet MS" charset="0"/>
                <a:ea typeface="Trebuchet MS" charset="0"/>
                <a:cs typeface="Trebuchet MS" charset="0"/>
              </a:rPr>
              <a:t>Vocabulary</a:t>
            </a:r>
            <a:endParaRPr lang="pt-BR" sz="32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331126" y="4880312"/>
            <a:ext cx="70294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 smtClean="0">
                <a:latin typeface="Trebuchet MS" charset="0"/>
                <a:ea typeface="Trebuchet MS" charset="0"/>
                <a:cs typeface="Trebuchet MS" charset="0"/>
              </a:rPr>
              <a:t>EXPRESS YOURSELF</a:t>
            </a:r>
            <a:endParaRPr lang="pt-BR" sz="32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31088" y="5686709"/>
            <a:ext cx="57858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charset="2"/>
              <a:buChar char="Ø"/>
            </a:pP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feel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down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feel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sorry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instead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of</a:t>
            </a:r>
            <a:endParaRPr lang="pt-BR" sz="24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0" y="2683779"/>
            <a:ext cx="882491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charset="2"/>
              <a:buChar char="Ø"/>
            </a:pPr>
            <a:r>
              <a:rPr lang="pt-BR" sz="24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Supper</a:t>
            </a:r>
            <a:r>
              <a:rPr lang="pt-BR" sz="24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4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leftovers</a:t>
            </a:r>
            <a:r>
              <a:rPr lang="pt-BR" sz="24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4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snack</a:t>
            </a:r>
            <a:r>
              <a:rPr lang="pt-BR" sz="24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4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snack</a:t>
            </a:r>
            <a:r>
              <a:rPr lang="pt-BR" sz="24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 bar; </a:t>
            </a:r>
            <a:r>
              <a:rPr lang="pt-BR" sz="24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confident</a:t>
            </a:r>
            <a:r>
              <a:rPr lang="pt-BR" sz="24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4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seafood</a:t>
            </a:r>
            <a:r>
              <a:rPr lang="pt-BR" sz="24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4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excited</a:t>
            </a:r>
            <a:r>
              <a:rPr lang="pt-BR" sz="24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4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sleepy</a:t>
            </a:r>
            <a:r>
              <a:rPr lang="pt-BR" sz="24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4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appetizer</a:t>
            </a:r>
            <a:r>
              <a:rPr lang="pt-BR" sz="24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4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vinegar</a:t>
            </a:r>
            <a:r>
              <a:rPr lang="pt-BR" sz="24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4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olive</a:t>
            </a:r>
            <a:r>
              <a:rPr lang="pt-BR" sz="24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24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oil</a:t>
            </a:r>
            <a:r>
              <a:rPr lang="pt-BR" sz="24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4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candy</a:t>
            </a:r>
            <a:r>
              <a:rPr lang="pt-BR" sz="24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4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garbage</a:t>
            </a:r>
            <a:r>
              <a:rPr lang="pt-BR" sz="24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4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dirty</a:t>
            </a:r>
            <a:r>
              <a:rPr lang="pt-BR" sz="24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4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embarrassed</a:t>
            </a:r>
            <a:r>
              <a:rPr lang="pt-BR" sz="24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4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gold</a:t>
            </a:r>
            <a:r>
              <a:rPr lang="pt-BR" sz="24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4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silver</a:t>
            </a:r>
            <a:r>
              <a:rPr lang="pt-BR" sz="24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4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angry</a:t>
            </a:r>
            <a:r>
              <a:rPr lang="pt-BR" sz="24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4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thing</a:t>
            </a:r>
            <a:r>
              <a:rPr lang="pt-BR" sz="24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4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toast</a:t>
            </a:r>
            <a:r>
              <a:rPr lang="pt-BR" sz="24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4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spice</a:t>
            </a:r>
            <a:r>
              <a:rPr lang="pt-BR" sz="24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sugar; cash; </a:t>
            </a:r>
            <a:r>
              <a:rPr lang="pt-BR" sz="24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ring</a:t>
            </a:r>
            <a:r>
              <a:rPr lang="pt-BR" sz="24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.</a:t>
            </a:r>
            <a:endParaRPr lang="pt-BR" sz="2400" dirty="0" smtClean="0">
              <a:solidFill>
                <a:schemeClr val="tx1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40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0" y="3270099"/>
            <a:ext cx="9855937" cy="1531376"/>
          </a:xfrm>
        </p:spPr>
        <p:txBody>
          <a:bodyPr>
            <a:noAutofit/>
          </a:bodyPr>
          <a:lstStyle/>
          <a:p>
            <a:pPr marL="457200" indent="-457200" algn="l">
              <a:buFont typeface="Wingdings" charset="2"/>
              <a:buChar char="Ø"/>
            </a:pP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teach-taught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learn-learned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remember-remembered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believe-believed</a:t>
            </a:r>
            <a:endParaRPr lang="pt-BR" sz="32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  <a:p>
            <a:pPr algn="l"/>
            <a:endParaRPr lang="pt-BR" sz="5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0" y="6369997"/>
            <a:ext cx="4114800" cy="365125"/>
          </a:xfrm>
        </p:spPr>
        <p:txBody>
          <a:bodyPr/>
          <a:lstStyle/>
          <a:p>
            <a:r>
              <a:rPr lang="pt-BR" sz="20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www.rawenglish.com.br</a:t>
            </a:r>
            <a:endParaRPr lang="pt-BR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330" y="69159"/>
            <a:ext cx="4475009" cy="3130737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73877" y="394378"/>
            <a:ext cx="2819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LESSON TWO</a:t>
            </a:r>
            <a:endParaRPr lang="pt-BR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73877" y="1055246"/>
            <a:ext cx="13012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Verbs</a:t>
            </a:r>
            <a:endParaRPr lang="pt-BR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9592908" y="5259897"/>
            <a:ext cx="2137129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600" dirty="0" smtClean="0">
                <a:latin typeface="Trebuchet MS" charset="0"/>
                <a:ea typeface="Trebuchet MS" charset="0"/>
                <a:cs typeface="Trebuchet MS" charset="0"/>
              </a:rPr>
              <a:t>CAN/COULD</a:t>
            </a:r>
          </a:p>
          <a:p>
            <a:pPr algn="ctr"/>
            <a:r>
              <a:rPr lang="pt-BR" sz="2600" dirty="0" smtClean="0">
                <a:latin typeface="Trebuchet MS" charset="0"/>
                <a:ea typeface="Trebuchet MS" charset="0"/>
                <a:cs typeface="Trebuchet MS" charset="0"/>
              </a:rPr>
              <a:t>+</a:t>
            </a:r>
          </a:p>
          <a:p>
            <a:pPr algn="ctr"/>
            <a:r>
              <a:rPr lang="pt-BR" sz="2600" dirty="0" smtClean="0">
                <a:latin typeface="Trebuchet MS" charset="0"/>
                <a:ea typeface="Trebuchet MS" charset="0"/>
                <a:cs typeface="Trebuchet MS" charset="0"/>
              </a:rPr>
              <a:t>BE ABLE TO</a:t>
            </a:r>
            <a:endParaRPr lang="pt-BR" sz="2600" dirty="0">
              <a:latin typeface="Trebuchet MS" charset="0"/>
              <a:ea typeface="Trebuchet MS" charset="0"/>
              <a:cs typeface="Trebuchet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517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2617" y="21835"/>
            <a:ext cx="4475009" cy="3130737"/>
          </a:xfrm>
          <a:prstGeom prst="rect">
            <a:avLst/>
          </a:prstGeom>
        </p:spPr>
      </p:pic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76936" y="6389846"/>
            <a:ext cx="4114800" cy="365125"/>
          </a:xfrm>
        </p:spPr>
        <p:txBody>
          <a:bodyPr/>
          <a:lstStyle/>
          <a:p>
            <a:r>
              <a:rPr lang="pt-BR" sz="2000" dirty="0" err="1" smtClean="0">
                <a:solidFill>
                  <a:schemeClr val="tx1"/>
                </a:solidFill>
              </a:rPr>
              <a:t>www.rawenglish.com.br</a:t>
            </a:r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19" name="Espaço Reservado para Conteúdo 2"/>
          <p:cNvSpPr txBox="1">
            <a:spLocks/>
          </p:cNvSpPr>
          <p:nvPr/>
        </p:nvSpPr>
        <p:spPr>
          <a:xfrm>
            <a:off x="0" y="2492395"/>
            <a:ext cx="8596668" cy="16556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Wingdings" charset="2"/>
              <a:buChar char="Ø"/>
            </a:pP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Attention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noisy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noise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quiet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silence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salesman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saleswoman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employee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employer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beginning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product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available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punctual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impatient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forgetful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kids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teenager;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semester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sale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lady;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coworker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end.</a:t>
            </a:r>
            <a:endParaRPr lang="pt-BR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1" name="Espaço Reservado para Conteúdo 2"/>
          <p:cNvSpPr txBox="1">
            <a:spLocks/>
          </p:cNvSpPr>
          <p:nvPr/>
        </p:nvSpPr>
        <p:spPr>
          <a:xfrm>
            <a:off x="438795" y="5228029"/>
            <a:ext cx="8596668" cy="10450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400" dirty="0"/>
          </a:p>
        </p:txBody>
      </p:sp>
      <p:sp>
        <p:nvSpPr>
          <p:cNvPr id="22" name="Título 1"/>
          <p:cNvSpPr txBox="1">
            <a:spLocks/>
          </p:cNvSpPr>
          <p:nvPr/>
        </p:nvSpPr>
        <p:spPr>
          <a:xfrm>
            <a:off x="130792" y="4362372"/>
            <a:ext cx="8596668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3200" dirty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EXPRESS YOURSELF</a:t>
            </a:r>
          </a:p>
        </p:txBody>
      </p:sp>
      <p:sp>
        <p:nvSpPr>
          <p:cNvPr id="23" name="Título 1"/>
          <p:cNvSpPr txBox="1">
            <a:spLocks/>
          </p:cNvSpPr>
          <p:nvPr/>
        </p:nvSpPr>
        <p:spPr>
          <a:xfrm>
            <a:off x="240012" y="401739"/>
            <a:ext cx="3788649" cy="10846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LESSON TWO 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0" y="5566895"/>
            <a:ext cx="4429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charset="2"/>
              <a:buChar char="Ø"/>
            </a:pP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Pay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attention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; in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order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to</a:t>
            </a:r>
            <a:endParaRPr lang="pt-BR" sz="24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8" name="Retângulo 27"/>
          <p:cNvSpPr/>
          <p:nvPr/>
        </p:nvSpPr>
        <p:spPr>
          <a:xfrm>
            <a:off x="240012" y="1205220"/>
            <a:ext cx="248890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dirty="0" err="1" smtClean="0">
                <a:latin typeface="Trebuchet MS" charset="0"/>
                <a:ea typeface="Trebuchet MS" charset="0"/>
                <a:cs typeface="Trebuchet MS" charset="0"/>
              </a:rPr>
              <a:t>Vocabulary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64233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0" y="3270099"/>
            <a:ext cx="9855937" cy="1531376"/>
          </a:xfrm>
        </p:spPr>
        <p:txBody>
          <a:bodyPr>
            <a:noAutofit/>
          </a:bodyPr>
          <a:lstStyle/>
          <a:p>
            <a:pPr marL="457200" indent="-457200" algn="l">
              <a:buFont typeface="Wingdings" charset="2"/>
              <a:buChar char="Ø"/>
            </a:pP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build-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built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get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married-got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married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tell-told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may-might</a:t>
            </a:r>
            <a:endParaRPr lang="pt-BR" sz="32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  <a:p>
            <a:pPr algn="l"/>
            <a:endParaRPr lang="pt-BR" sz="5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0" y="6369997"/>
            <a:ext cx="4114800" cy="365125"/>
          </a:xfrm>
        </p:spPr>
        <p:txBody>
          <a:bodyPr/>
          <a:lstStyle/>
          <a:p>
            <a:r>
              <a:rPr lang="pt-BR" sz="20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www.rawenglish.com.br</a:t>
            </a:r>
            <a:endParaRPr lang="pt-BR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330" y="69159"/>
            <a:ext cx="4475009" cy="3130737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73877" y="394378"/>
            <a:ext cx="31803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LESSON THREE</a:t>
            </a:r>
            <a:endParaRPr lang="pt-BR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73877" y="1055246"/>
            <a:ext cx="13012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Verbs</a:t>
            </a:r>
            <a:endParaRPr lang="pt-BR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9592908" y="5259897"/>
            <a:ext cx="2137129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600" dirty="0" smtClean="0">
                <a:latin typeface="Trebuchet MS" charset="0"/>
                <a:ea typeface="Trebuchet MS" charset="0"/>
                <a:cs typeface="Trebuchet MS" charset="0"/>
              </a:rPr>
              <a:t>MIGHT</a:t>
            </a:r>
            <a:endParaRPr lang="pt-BR" sz="2600" dirty="0" smtClean="0">
              <a:latin typeface="Trebuchet MS" charset="0"/>
              <a:ea typeface="Trebuchet MS" charset="0"/>
              <a:cs typeface="Trebuchet MS" charset="0"/>
            </a:endParaRPr>
          </a:p>
          <a:p>
            <a:pPr algn="ctr"/>
            <a:r>
              <a:rPr lang="pt-BR" sz="2600" dirty="0" smtClean="0">
                <a:latin typeface="Trebuchet MS" charset="0"/>
                <a:ea typeface="Trebuchet MS" charset="0"/>
                <a:cs typeface="Trebuchet MS" charset="0"/>
              </a:rPr>
              <a:t>+</a:t>
            </a:r>
          </a:p>
          <a:p>
            <a:pPr algn="ctr"/>
            <a:r>
              <a:rPr lang="pt-BR" sz="2600" dirty="0" smtClean="0">
                <a:latin typeface="Trebuchet MS" charset="0"/>
                <a:ea typeface="Trebuchet MS" charset="0"/>
                <a:cs typeface="Trebuchet MS" charset="0"/>
              </a:rPr>
              <a:t>MAY</a:t>
            </a:r>
            <a:endParaRPr lang="pt-BR" sz="2600" dirty="0">
              <a:latin typeface="Trebuchet MS" charset="0"/>
              <a:ea typeface="Trebuchet MS" charset="0"/>
              <a:cs typeface="Trebuchet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857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2617" y="21835"/>
            <a:ext cx="4475009" cy="3130737"/>
          </a:xfrm>
          <a:prstGeom prst="rect">
            <a:avLst/>
          </a:prstGeom>
        </p:spPr>
      </p:pic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76936" y="6389846"/>
            <a:ext cx="4114800" cy="365125"/>
          </a:xfrm>
        </p:spPr>
        <p:txBody>
          <a:bodyPr/>
          <a:lstStyle/>
          <a:p>
            <a:r>
              <a:rPr lang="pt-BR" sz="2000" dirty="0" err="1" smtClean="0">
                <a:solidFill>
                  <a:schemeClr val="tx1"/>
                </a:solidFill>
              </a:rPr>
              <a:t>www.rawenglish.com.br</a:t>
            </a:r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19" name="Espaço Reservado para Conteúdo 2"/>
          <p:cNvSpPr txBox="1">
            <a:spLocks/>
          </p:cNvSpPr>
          <p:nvPr/>
        </p:nvSpPr>
        <p:spPr>
          <a:xfrm>
            <a:off x="0" y="2492395"/>
            <a:ext cx="8596668" cy="16556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Wingdings" charset="2"/>
              <a:buChar char="Ø"/>
            </a:pP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Anxious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wedding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everybody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groom; bride;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Italian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Mexican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nobody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joke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somebody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truth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lie;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serious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funny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anybody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strong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body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thin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fat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own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completely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appointment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address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.</a:t>
            </a:r>
            <a:endParaRPr lang="pt-BR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1" name="Espaço Reservado para Conteúdo 2"/>
          <p:cNvSpPr txBox="1">
            <a:spLocks/>
          </p:cNvSpPr>
          <p:nvPr/>
        </p:nvSpPr>
        <p:spPr>
          <a:xfrm>
            <a:off x="438795" y="5228029"/>
            <a:ext cx="8596668" cy="10450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400" dirty="0"/>
          </a:p>
        </p:txBody>
      </p:sp>
      <p:sp>
        <p:nvSpPr>
          <p:cNvPr id="22" name="Título 1"/>
          <p:cNvSpPr txBox="1">
            <a:spLocks/>
          </p:cNvSpPr>
          <p:nvPr/>
        </p:nvSpPr>
        <p:spPr>
          <a:xfrm>
            <a:off x="130792" y="4362372"/>
            <a:ext cx="8596668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3200" dirty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EXPRESS YOURSELF</a:t>
            </a:r>
          </a:p>
        </p:txBody>
      </p:sp>
      <p:sp>
        <p:nvSpPr>
          <p:cNvPr id="23" name="Título 1"/>
          <p:cNvSpPr txBox="1">
            <a:spLocks/>
          </p:cNvSpPr>
          <p:nvPr/>
        </p:nvSpPr>
        <p:spPr>
          <a:xfrm>
            <a:off x="240012" y="401739"/>
            <a:ext cx="3788649" cy="10846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LESSON THREE</a:t>
            </a:r>
            <a:endParaRPr lang="pt-BR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0" y="5566895"/>
            <a:ext cx="4429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charset="2"/>
              <a:buChar char="Ø"/>
            </a:pP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(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be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)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extremely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important</a:t>
            </a:r>
            <a:endParaRPr lang="pt-BR" sz="24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240012" y="1162279"/>
            <a:ext cx="22031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 err="1" smtClean="0">
                <a:latin typeface="Trebuchet MS" charset="0"/>
                <a:ea typeface="Trebuchet MS" charset="0"/>
                <a:cs typeface="Trebuchet MS" charset="0"/>
              </a:rPr>
              <a:t>Vocabulary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72880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0" y="6369997"/>
            <a:ext cx="4114800" cy="365125"/>
          </a:xfrm>
        </p:spPr>
        <p:txBody>
          <a:bodyPr/>
          <a:lstStyle/>
          <a:p>
            <a:r>
              <a:rPr lang="pt-BR" sz="20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www.rawenglish.com.br</a:t>
            </a:r>
            <a:endParaRPr lang="pt-BR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330" y="69159"/>
            <a:ext cx="4475009" cy="3130737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73877" y="394378"/>
            <a:ext cx="2978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LESSON FOUR</a:t>
            </a:r>
            <a:endParaRPr lang="pt-BR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73877" y="1055246"/>
            <a:ext cx="13012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Verbs</a:t>
            </a:r>
            <a:endParaRPr lang="pt-BR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9592908" y="5259897"/>
            <a:ext cx="2137129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600" dirty="0" smtClean="0">
                <a:latin typeface="Trebuchet MS" charset="0"/>
                <a:ea typeface="Trebuchet MS" charset="0"/>
                <a:cs typeface="Trebuchet MS" charset="0"/>
              </a:rPr>
              <a:t>MUST</a:t>
            </a:r>
            <a:endParaRPr lang="pt-BR" sz="2600" dirty="0" smtClean="0">
              <a:latin typeface="Trebuchet MS" charset="0"/>
              <a:ea typeface="Trebuchet MS" charset="0"/>
              <a:cs typeface="Trebuchet MS" charset="0"/>
            </a:endParaRPr>
          </a:p>
          <a:p>
            <a:pPr algn="ctr"/>
            <a:r>
              <a:rPr lang="pt-BR" sz="2600" dirty="0" smtClean="0">
                <a:latin typeface="Trebuchet MS" charset="0"/>
                <a:ea typeface="Trebuchet MS" charset="0"/>
                <a:cs typeface="Trebuchet MS" charset="0"/>
              </a:rPr>
              <a:t>+</a:t>
            </a:r>
          </a:p>
          <a:p>
            <a:pPr algn="ctr"/>
            <a:r>
              <a:rPr lang="pt-BR" sz="2600" dirty="0" smtClean="0">
                <a:latin typeface="Trebuchet MS" charset="0"/>
                <a:ea typeface="Trebuchet MS" charset="0"/>
                <a:cs typeface="Trebuchet MS" charset="0"/>
              </a:rPr>
              <a:t>SHOULD</a:t>
            </a:r>
            <a:endParaRPr lang="pt-BR" sz="26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167124" y="2297701"/>
            <a:ext cx="893921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promise-promised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listen-listened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stop-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stopped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change-changed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</a:t>
            </a:r>
            <a:endParaRPr lang="pt-BR" sz="32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706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2617" y="21835"/>
            <a:ext cx="4475009" cy="3130737"/>
          </a:xfrm>
          <a:prstGeom prst="rect">
            <a:avLst/>
          </a:prstGeom>
        </p:spPr>
      </p:pic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76936" y="6389846"/>
            <a:ext cx="4114800" cy="365125"/>
          </a:xfrm>
        </p:spPr>
        <p:txBody>
          <a:bodyPr/>
          <a:lstStyle/>
          <a:p>
            <a:r>
              <a:rPr lang="pt-BR" sz="2000" dirty="0" err="1" smtClean="0">
                <a:solidFill>
                  <a:schemeClr val="tx1"/>
                </a:solidFill>
              </a:rPr>
              <a:t>www.rawenglish.com.br</a:t>
            </a:r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19" name="Espaço Reservado para Conteúdo 2"/>
          <p:cNvSpPr txBox="1">
            <a:spLocks/>
          </p:cNvSpPr>
          <p:nvPr/>
        </p:nvSpPr>
        <p:spPr>
          <a:xfrm>
            <a:off x="240012" y="2410980"/>
            <a:ext cx="8596668" cy="16556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Wingdings" charset="2"/>
              <a:buChar char="Ø"/>
            </a:pP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Warm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sunny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rainy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season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spring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summer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fall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winter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disappointed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concert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invitation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artist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around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world;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immediately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cab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song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driver;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loud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low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which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hat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.</a:t>
            </a:r>
            <a:endParaRPr lang="pt-BR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1" name="Espaço Reservado para Conteúdo 2"/>
          <p:cNvSpPr txBox="1">
            <a:spLocks/>
          </p:cNvSpPr>
          <p:nvPr/>
        </p:nvSpPr>
        <p:spPr>
          <a:xfrm>
            <a:off x="438795" y="5228029"/>
            <a:ext cx="8596668" cy="10450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400" dirty="0"/>
          </a:p>
        </p:txBody>
      </p:sp>
      <p:sp>
        <p:nvSpPr>
          <p:cNvPr id="22" name="Título 1"/>
          <p:cNvSpPr txBox="1">
            <a:spLocks/>
          </p:cNvSpPr>
          <p:nvPr/>
        </p:nvSpPr>
        <p:spPr>
          <a:xfrm>
            <a:off x="130792" y="4362372"/>
            <a:ext cx="8596668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3200" dirty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EXPRESS YOURSELF</a:t>
            </a:r>
          </a:p>
        </p:txBody>
      </p:sp>
      <p:sp>
        <p:nvSpPr>
          <p:cNvPr id="23" name="Título 1"/>
          <p:cNvSpPr txBox="1">
            <a:spLocks/>
          </p:cNvSpPr>
          <p:nvPr/>
        </p:nvSpPr>
        <p:spPr>
          <a:xfrm>
            <a:off x="240012" y="401739"/>
            <a:ext cx="3788649" cy="10846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LESSON </a:t>
            </a:r>
            <a:r>
              <a:rPr lang="pt-BR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FOUR</a:t>
            </a:r>
            <a:endParaRPr lang="pt-BR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240012" y="5590884"/>
            <a:ext cx="7400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charset="2"/>
              <a:buChar char="Ø"/>
            </a:pP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Right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away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 -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right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now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 -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right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here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 -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right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there</a:t>
            </a:r>
            <a:endParaRPr lang="pt-BR" sz="24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240012" y="1162279"/>
            <a:ext cx="22031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 err="1" smtClean="0">
                <a:latin typeface="Trebuchet MS" charset="0"/>
                <a:ea typeface="Trebuchet MS" charset="0"/>
                <a:cs typeface="Trebuchet MS" charset="0"/>
              </a:rPr>
              <a:t>Vocabulary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134888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330" y="-33787"/>
            <a:ext cx="4475009" cy="3130737"/>
          </a:xfrm>
          <a:prstGeom prst="rect">
            <a:avLst/>
          </a:prstGeom>
        </p:spPr>
      </p:pic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0" y="6369997"/>
            <a:ext cx="4114800" cy="365125"/>
          </a:xfrm>
        </p:spPr>
        <p:txBody>
          <a:bodyPr/>
          <a:lstStyle/>
          <a:p>
            <a:r>
              <a:rPr lang="pt-BR" sz="20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www.rawenglish.com.br</a:t>
            </a:r>
            <a:endParaRPr lang="pt-BR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73877" y="394378"/>
            <a:ext cx="27446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LESSON FIVE</a:t>
            </a:r>
            <a:endParaRPr lang="pt-BR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2818539" y="1179442"/>
            <a:ext cx="17395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smtClean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REVIEW</a:t>
            </a:r>
            <a:endParaRPr lang="pt-BR" sz="360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73876" y="1946102"/>
            <a:ext cx="978206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Use-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used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prepare-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prepared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spend-spent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feel-felt</a:t>
            </a:r>
            <a:endParaRPr lang="pt-BR" sz="32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73876" y="4008961"/>
            <a:ext cx="978206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build-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built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get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married-got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married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tell-told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may-might</a:t>
            </a:r>
            <a:endParaRPr lang="pt-BR" sz="32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73876" y="2930995"/>
            <a:ext cx="951903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teach-taught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learn-learned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remember-remembered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believe-believed</a:t>
            </a:r>
            <a:endParaRPr lang="pt-BR" sz="32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73876" y="5086179"/>
            <a:ext cx="931301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promise-promised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listen-listened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stop-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stopped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change-changed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</a:t>
            </a:r>
            <a:endParaRPr lang="pt-BR" sz="32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049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2617" y="21835"/>
            <a:ext cx="4475009" cy="3130737"/>
          </a:xfrm>
          <a:prstGeom prst="rect">
            <a:avLst/>
          </a:prstGeom>
        </p:spPr>
      </p:pic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76936" y="6389846"/>
            <a:ext cx="4114800" cy="365125"/>
          </a:xfrm>
        </p:spPr>
        <p:txBody>
          <a:bodyPr/>
          <a:lstStyle/>
          <a:p>
            <a:r>
              <a:rPr lang="pt-BR" sz="2000" dirty="0" err="1" smtClean="0">
                <a:solidFill>
                  <a:schemeClr val="tx1"/>
                </a:solidFill>
              </a:rPr>
              <a:t>www.rawenglish.com.br</a:t>
            </a:r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19" name="Espaço Reservado para Conteúdo 2"/>
          <p:cNvSpPr txBox="1">
            <a:spLocks/>
          </p:cNvSpPr>
          <p:nvPr/>
        </p:nvSpPr>
        <p:spPr>
          <a:xfrm>
            <a:off x="240012" y="2394767"/>
            <a:ext cx="8596668" cy="16556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Wingdings" charset="2"/>
              <a:buChar char="Ø"/>
            </a:pP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Attention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noisy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noise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quiet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silence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salesman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saleswoman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employee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employer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beginning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product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available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punctual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impatient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forgetful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kids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teenager;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semester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sale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lady;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coworker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end.</a:t>
            </a:r>
            <a:endParaRPr lang="pt-BR" sz="20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1" name="Espaço Reservado para Conteúdo 2"/>
          <p:cNvSpPr txBox="1">
            <a:spLocks/>
          </p:cNvSpPr>
          <p:nvPr/>
        </p:nvSpPr>
        <p:spPr>
          <a:xfrm>
            <a:off x="438795" y="5228029"/>
            <a:ext cx="8596668" cy="10450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400" dirty="0"/>
          </a:p>
        </p:txBody>
      </p:sp>
      <p:sp>
        <p:nvSpPr>
          <p:cNvPr id="23" name="Título 1"/>
          <p:cNvSpPr txBox="1">
            <a:spLocks/>
          </p:cNvSpPr>
          <p:nvPr/>
        </p:nvSpPr>
        <p:spPr>
          <a:xfrm>
            <a:off x="240012" y="401739"/>
            <a:ext cx="3788649" cy="10846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LESSON </a:t>
            </a:r>
            <a:r>
              <a:rPr lang="pt-BR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FIVE</a:t>
            </a:r>
          </a:p>
          <a:p>
            <a:endParaRPr lang="pt-BR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3635553" y="651680"/>
            <a:ext cx="22031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 smtClean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REVIEW</a:t>
            </a:r>
            <a:endParaRPr lang="pt-BR" sz="3200" dirty="0"/>
          </a:p>
        </p:txBody>
      </p:sp>
      <p:sp>
        <p:nvSpPr>
          <p:cNvPr id="6" name="Retângulo 5"/>
          <p:cNvSpPr/>
          <p:nvPr/>
        </p:nvSpPr>
        <p:spPr>
          <a:xfrm>
            <a:off x="240012" y="1206645"/>
            <a:ext cx="834677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charset="2"/>
              <a:buChar char="Ø"/>
            </a:pPr>
            <a:r>
              <a:rPr lang="pt-BR" sz="20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Supper</a:t>
            </a:r>
            <a:r>
              <a:rPr lang="pt-BR" sz="20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leftovers</a:t>
            </a:r>
            <a:r>
              <a:rPr lang="pt-BR" sz="20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snack</a:t>
            </a:r>
            <a:r>
              <a:rPr lang="pt-BR" sz="20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snack</a:t>
            </a:r>
            <a:r>
              <a:rPr lang="pt-BR" sz="20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 bar; </a:t>
            </a:r>
            <a:r>
              <a:rPr lang="pt-BR" sz="20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confident</a:t>
            </a:r>
            <a:r>
              <a:rPr lang="pt-BR" sz="20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seafood</a:t>
            </a:r>
            <a:r>
              <a:rPr lang="pt-BR" sz="20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excited</a:t>
            </a:r>
            <a:r>
              <a:rPr lang="pt-BR" sz="20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sleepy</a:t>
            </a:r>
            <a:r>
              <a:rPr lang="pt-BR" sz="20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appetizer</a:t>
            </a:r>
            <a:r>
              <a:rPr lang="pt-BR" sz="20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vinegar</a:t>
            </a:r>
            <a:r>
              <a:rPr lang="pt-BR" sz="20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olive</a:t>
            </a:r>
            <a:r>
              <a:rPr lang="pt-BR" sz="20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20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oil</a:t>
            </a:r>
            <a:r>
              <a:rPr lang="pt-BR" sz="20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candy</a:t>
            </a:r>
            <a:r>
              <a:rPr lang="pt-BR" sz="20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garbage</a:t>
            </a:r>
            <a:r>
              <a:rPr lang="pt-BR" sz="20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dirty</a:t>
            </a:r>
            <a:r>
              <a:rPr lang="pt-BR" sz="20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embarrassed</a:t>
            </a:r>
            <a:r>
              <a:rPr lang="pt-BR" sz="20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gold</a:t>
            </a:r>
            <a:r>
              <a:rPr lang="pt-BR" sz="20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silver</a:t>
            </a:r>
            <a:r>
              <a:rPr lang="pt-BR" sz="20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angry</a:t>
            </a:r>
            <a:r>
              <a:rPr lang="pt-BR" sz="20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thing</a:t>
            </a:r>
            <a:r>
              <a:rPr lang="pt-BR" sz="20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toast</a:t>
            </a:r>
            <a:r>
              <a:rPr lang="pt-BR" sz="20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spice</a:t>
            </a:r>
            <a:r>
              <a:rPr lang="pt-BR" sz="20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; sugar; cash; </a:t>
            </a:r>
            <a:r>
              <a:rPr lang="pt-BR" sz="2000" dirty="0" err="1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ring</a:t>
            </a:r>
            <a:r>
              <a:rPr lang="pt-BR" sz="2000" dirty="0" smtClean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.</a:t>
            </a:r>
            <a:endParaRPr lang="pt-BR" sz="2000" dirty="0" smtClean="0">
              <a:solidFill>
                <a:schemeClr val="tx1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227984" y="3575919"/>
            <a:ext cx="901828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charset="2"/>
              <a:buChar char="Ø"/>
            </a:pP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Anxious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wedding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everybody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groom; bride;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Italian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Mexican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nobody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joke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somebody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truth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lie;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serious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funny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anybody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strong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body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thin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fat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own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completely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appointment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address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.</a:t>
            </a:r>
            <a:endParaRPr lang="pt-BR" sz="20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227984" y="4903016"/>
            <a:ext cx="860869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charset="2"/>
              <a:buChar char="Ø"/>
            </a:pP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Warm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sunny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rainy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season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spring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summer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fall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winter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disappointed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concert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invitation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artist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around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world;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immediately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cab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song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driver;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loud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low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which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000" dirty="0" err="1" smtClean="0">
                <a:latin typeface="Trebuchet MS" charset="0"/>
                <a:ea typeface="Trebuchet MS" charset="0"/>
                <a:cs typeface="Trebuchet MS" charset="0"/>
              </a:rPr>
              <a:t>hat</a:t>
            </a:r>
            <a:r>
              <a:rPr lang="pt-BR" sz="2000" dirty="0" smtClean="0">
                <a:latin typeface="Trebuchet MS" charset="0"/>
                <a:ea typeface="Trebuchet MS" charset="0"/>
                <a:cs typeface="Trebuchet MS" charset="0"/>
              </a:rPr>
              <a:t>.</a:t>
            </a:r>
            <a:endParaRPr lang="pt-BR" sz="2000" dirty="0">
              <a:latin typeface="Trebuchet MS" charset="0"/>
              <a:ea typeface="Trebuchet MS" charset="0"/>
              <a:cs typeface="Trebuchet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937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0" y="6369997"/>
            <a:ext cx="4114800" cy="365125"/>
          </a:xfrm>
        </p:spPr>
        <p:txBody>
          <a:bodyPr/>
          <a:lstStyle/>
          <a:p>
            <a:r>
              <a:rPr lang="pt-BR" sz="20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www.rawenglish.com.br</a:t>
            </a:r>
            <a:endParaRPr lang="pt-BR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330" y="69159"/>
            <a:ext cx="4475009" cy="3130737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73877" y="408915"/>
            <a:ext cx="24641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LESSON SIX</a:t>
            </a:r>
            <a:endParaRPr lang="pt-BR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73877" y="1055246"/>
            <a:ext cx="13012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Verbs</a:t>
            </a:r>
            <a:endParaRPr lang="pt-BR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9635770" y="5442460"/>
            <a:ext cx="2137129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600" smtClean="0">
                <a:latin typeface="Trebuchet MS" charset="0"/>
                <a:ea typeface="Trebuchet MS" charset="0"/>
                <a:cs typeface="Trebuchet MS" charset="0"/>
              </a:rPr>
              <a:t>BE </a:t>
            </a:r>
            <a:r>
              <a:rPr lang="pt-BR" sz="2600" dirty="0" smtClean="0">
                <a:latin typeface="Trebuchet MS" charset="0"/>
                <a:ea typeface="Trebuchet MS" charset="0"/>
                <a:cs typeface="Trebuchet MS" charset="0"/>
              </a:rPr>
              <a:t>GOING TO</a:t>
            </a:r>
            <a:endParaRPr lang="pt-BR" sz="2600" dirty="0" smtClean="0">
              <a:latin typeface="Trebuchet MS" charset="0"/>
              <a:ea typeface="Trebuchet MS" charset="0"/>
              <a:cs typeface="Trebuchet MS" charset="0"/>
            </a:endParaRPr>
          </a:p>
          <a:p>
            <a:pPr algn="ctr"/>
            <a:endParaRPr lang="pt-BR" sz="2600" dirty="0" smtClean="0">
              <a:latin typeface="Trebuchet MS" charset="0"/>
              <a:ea typeface="Trebuchet MS" charset="0"/>
              <a:cs typeface="Trebuchet MS" charset="0"/>
            </a:endParaRPr>
          </a:p>
          <a:p>
            <a:pPr algn="ctr"/>
            <a:endParaRPr lang="pt-BR" sz="26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261936" y="3214433"/>
            <a:ext cx="893921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order-ordered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lend-lent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borrow-borrowed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make-made</a:t>
            </a:r>
            <a:endParaRPr lang="pt-BR" sz="32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923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2617" y="21835"/>
            <a:ext cx="4475009" cy="3130737"/>
          </a:xfrm>
          <a:prstGeom prst="rect">
            <a:avLst/>
          </a:prstGeom>
        </p:spPr>
      </p:pic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76936" y="6389846"/>
            <a:ext cx="4114800" cy="365125"/>
          </a:xfrm>
        </p:spPr>
        <p:txBody>
          <a:bodyPr/>
          <a:lstStyle/>
          <a:p>
            <a:r>
              <a:rPr lang="pt-BR" sz="2000" dirty="0" err="1" smtClean="0">
                <a:solidFill>
                  <a:schemeClr val="tx1"/>
                </a:solidFill>
              </a:rPr>
              <a:t>www.rawenglish.com.br</a:t>
            </a:r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19" name="Espaço Reservado para Conteúdo 2"/>
          <p:cNvSpPr txBox="1">
            <a:spLocks/>
          </p:cNvSpPr>
          <p:nvPr/>
        </p:nvSpPr>
        <p:spPr>
          <a:xfrm>
            <a:off x="76936" y="2257497"/>
            <a:ext cx="8596668" cy="16556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Wingdings" charset="2"/>
              <a:buChar char="Ø"/>
            </a:pP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Bank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account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amount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mother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in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law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father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in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law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son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in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law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daughter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in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law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salary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interest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minimun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personality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mistake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danger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deal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order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desperate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impression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phone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phone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book;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change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collect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call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between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international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call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long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distance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call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loan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among</a:t>
            </a:r>
            <a:endParaRPr lang="pt-BR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1" name="Espaço Reservado para Conteúdo 2"/>
          <p:cNvSpPr txBox="1">
            <a:spLocks/>
          </p:cNvSpPr>
          <p:nvPr/>
        </p:nvSpPr>
        <p:spPr>
          <a:xfrm>
            <a:off x="438795" y="5228029"/>
            <a:ext cx="8596668" cy="10450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400" dirty="0"/>
          </a:p>
        </p:txBody>
      </p:sp>
      <p:sp>
        <p:nvSpPr>
          <p:cNvPr id="22" name="Título 1"/>
          <p:cNvSpPr txBox="1">
            <a:spLocks/>
          </p:cNvSpPr>
          <p:nvPr/>
        </p:nvSpPr>
        <p:spPr>
          <a:xfrm>
            <a:off x="76936" y="4417821"/>
            <a:ext cx="8596668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3200" dirty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EXPRESS YOURSELF</a:t>
            </a:r>
          </a:p>
        </p:txBody>
      </p:sp>
      <p:sp>
        <p:nvSpPr>
          <p:cNvPr id="23" name="Título 1"/>
          <p:cNvSpPr txBox="1">
            <a:spLocks/>
          </p:cNvSpPr>
          <p:nvPr/>
        </p:nvSpPr>
        <p:spPr>
          <a:xfrm>
            <a:off x="76936" y="415726"/>
            <a:ext cx="3788649" cy="10846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LESSON </a:t>
            </a:r>
            <a:r>
              <a:rPr lang="pt-BR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SIX</a:t>
            </a:r>
            <a:endParaRPr lang="pt-BR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76936" y="5519733"/>
            <a:ext cx="7400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charset="2"/>
              <a:buChar char="Ø"/>
            </a:pP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I’m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 out of...</a:t>
            </a:r>
            <a:endParaRPr lang="pt-BR" sz="24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76936" y="1176111"/>
            <a:ext cx="22031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 err="1" smtClean="0">
                <a:latin typeface="Trebuchet MS" charset="0"/>
                <a:ea typeface="Trebuchet MS" charset="0"/>
                <a:cs typeface="Trebuchet MS" charset="0"/>
              </a:rPr>
              <a:t>Vocabulary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6369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0" y="6369997"/>
            <a:ext cx="4114800" cy="365125"/>
          </a:xfrm>
        </p:spPr>
        <p:txBody>
          <a:bodyPr/>
          <a:lstStyle/>
          <a:p>
            <a:r>
              <a:rPr lang="pt-BR" sz="20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www.rawenglish.com.br</a:t>
            </a:r>
            <a:endParaRPr lang="pt-BR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330" y="69159"/>
            <a:ext cx="4475009" cy="3130737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73877" y="408915"/>
            <a:ext cx="31390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LESSON SEVEN</a:t>
            </a:r>
            <a:endParaRPr lang="pt-BR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73877" y="1055246"/>
            <a:ext cx="13012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Verbs</a:t>
            </a:r>
            <a:endParaRPr lang="pt-BR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9635770" y="5442460"/>
            <a:ext cx="2137129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600" dirty="0" smtClean="0">
                <a:latin typeface="Trebuchet MS" charset="0"/>
                <a:ea typeface="Trebuchet MS" charset="0"/>
                <a:cs typeface="Trebuchet MS" charset="0"/>
              </a:rPr>
              <a:t>MORE THAN</a:t>
            </a:r>
            <a:endParaRPr lang="pt-BR" sz="2600" dirty="0" smtClean="0">
              <a:latin typeface="Trebuchet MS" charset="0"/>
              <a:ea typeface="Trebuchet MS" charset="0"/>
              <a:cs typeface="Trebuchet MS" charset="0"/>
            </a:endParaRPr>
          </a:p>
          <a:p>
            <a:pPr algn="ctr"/>
            <a:r>
              <a:rPr lang="pt-BR" sz="2600" dirty="0" smtClean="0">
                <a:latin typeface="Trebuchet MS" charset="0"/>
                <a:ea typeface="Trebuchet MS" charset="0"/>
                <a:cs typeface="Trebuchet MS" charset="0"/>
              </a:rPr>
              <a:t>+</a:t>
            </a:r>
          </a:p>
          <a:p>
            <a:pPr algn="ctr"/>
            <a:r>
              <a:rPr lang="pt-BR" sz="2600" dirty="0" smtClean="0">
                <a:latin typeface="Trebuchet MS" charset="0"/>
                <a:ea typeface="Trebuchet MS" charset="0"/>
                <a:cs typeface="Trebuchet MS" charset="0"/>
              </a:rPr>
              <a:t>LESS THAN</a:t>
            </a:r>
            <a:endParaRPr lang="pt-BR" sz="26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261936" y="3214433"/>
            <a:ext cx="893921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find-found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loose-lost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laugh-laughed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worry-worried</a:t>
            </a:r>
            <a:endParaRPr lang="pt-BR" sz="32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172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2617" y="21835"/>
            <a:ext cx="4475009" cy="3130737"/>
          </a:xfrm>
          <a:prstGeom prst="rect">
            <a:avLst/>
          </a:prstGeom>
        </p:spPr>
      </p:pic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76936" y="6389846"/>
            <a:ext cx="4114800" cy="365125"/>
          </a:xfrm>
        </p:spPr>
        <p:txBody>
          <a:bodyPr/>
          <a:lstStyle/>
          <a:p>
            <a:r>
              <a:rPr lang="pt-BR" sz="2000" dirty="0" err="1" smtClean="0">
                <a:solidFill>
                  <a:schemeClr val="tx1"/>
                </a:solidFill>
              </a:rPr>
              <a:t>www.rawenglish.com.br</a:t>
            </a:r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19" name="Espaço Reservado para Conteúdo 2"/>
          <p:cNvSpPr txBox="1">
            <a:spLocks/>
          </p:cNvSpPr>
          <p:nvPr/>
        </p:nvSpPr>
        <p:spPr>
          <a:xfrm>
            <a:off x="76936" y="2257497"/>
            <a:ext cx="8596668" cy="20435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Wingdings" charset="2"/>
              <a:buChar char="Ø"/>
            </a:pP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Cute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hairdreser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hair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long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short;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unusual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hairstyle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suggestion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rude;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polite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upset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usual;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finally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crowded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large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reason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tough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calm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curious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comfortable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norht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south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west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;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east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less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.</a:t>
            </a:r>
            <a:endParaRPr lang="pt-BR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1" name="Espaço Reservado para Conteúdo 2"/>
          <p:cNvSpPr txBox="1">
            <a:spLocks/>
          </p:cNvSpPr>
          <p:nvPr/>
        </p:nvSpPr>
        <p:spPr>
          <a:xfrm>
            <a:off x="438795" y="5228029"/>
            <a:ext cx="8596668" cy="10450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400" dirty="0"/>
          </a:p>
        </p:txBody>
      </p:sp>
      <p:sp>
        <p:nvSpPr>
          <p:cNvPr id="22" name="Título 1"/>
          <p:cNvSpPr txBox="1">
            <a:spLocks/>
          </p:cNvSpPr>
          <p:nvPr/>
        </p:nvSpPr>
        <p:spPr>
          <a:xfrm>
            <a:off x="76936" y="4417821"/>
            <a:ext cx="8596668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3200" dirty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EXPRESS YOURSELF</a:t>
            </a:r>
          </a:p>
        </p:txBody>
      </p:sp>
      <p:sp>
        <p:nvSpPr>
          <p:cNvPr id="23" name="Título 1"/>
          <p:cNvSpPr txBox="1">
            <a:spLocks/>
          </p:cNvSpPr>
          <p:nvPr/>
        </p:nvSpPr>
        <p:spPr>
          <a:xfrm>
            <a:off x="76936" y="415726"/>
            <a:ext cx="3788649" cy="10846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LESSON </a:t>
            </a:r>
            <a:r>
              <a:rPr lang="pt-BR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SEVEN</a:t>
            </a:r>
            <a:endParaRPr lang="pt-BR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76936" y="5519733"/>
            <a:ext cx="7400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charset="2"/>
              <a:buChar char="Ø"/>
            </a:pP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find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 out;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have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my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hair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 cut.</a:t>
            </a:r>
            <a:endParaRPr lang="pt-BR" sz="24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76936" y="1176111"/>
            <a:ext cx="22031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 err="1" smtClean="0">
                <a:latin typeface="Trebuchet MS" charset="0"/>
                <a:ea typeface="Trebuchet MS" charset="0"/>
                <a:cs typeface="Trebuchet MS" charset="0"/>
              </a:rPr>
              <a:t>Vocabulary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479131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0" y="6369997"/>
            <a:ext cx="4114800" cy="365125"/>
          </a:xfrm>
        </p:spPr>
        <p:txBody>
          <a:bodyPr/>
          <a:lstStyle/>
          <a:p>
            <a:r>
              <a:rPr lang="pt-BR" sz="20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www.rawenglish.com.br</a:t>
            </a:r>
            <a:endParaRPr lang="pt-BR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330" y="69159"/>
            <a:ext cx="4475009" cy="3130737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73877" y="408915"/>
            <a:ext cx="31390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LESSON SEVEN</a:t>
            </a:r>
            <a:endParaRPr lang="pt-BR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73877" y="1055246"/>
            <a:ext cx="13012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Verbs</a:t>
            </a:r>
            <a:endParaRPr lang="pt-BR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9635770" y="5442460"/>
            <a:ext cx="213712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600" dirty="0" smtClean="0">
                <a:latin typeface="Trebuchet MS" charset="0"/>
                <a:ea typeface="Trebuchet MS" charset="0"/>
                <a:cs typeface="Trebuchet MS" charset="0"/>
              </a:rPr>
              <a:t>AS...AS</a:t>
            </a:r>
            <a:endParaRPr lang="pt-BR" sz="2600" dirty="0" smtClean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261936" y="3214433"/>
            <a:ext cx="893921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hope-hoped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keep-kept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happen-happened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decide-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decided</a:t>
            </a:r>
            <a:endParaRPr lang="pt-BR" sz="32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317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2617" y="21835"/>
            <a:ext cx="4475009" cy="3130737"/>
          </a:xfrm>
          <a:prstGeom prst="rect">
            <a:avLst/>
          </a:prstGeom>
        </p:spPr>
      </p:pic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76936" y="6389846"/>
            <a:ext cx="4114800" cy="365125"/>
          </a:xfrm>
        </p:spPr>
        <p:txBody>
          <a:bodyPr/>
          <a:lstStyle/>
          <a:p>
            <a:r>
              <a:rPr lang="pt-BR" sz="2000" dirty="0" err="1" smtClean="0">
                <a:solidFill>
                  <a:schemeClr val="tx1"/>
                </a:solidFill>
              </a:rPr>
              <a:t>www.rawenglish.com.br</a:t>
            </a:r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19" name="Espaço Reservado para Conteúdo 2"/>
          <p:cNvSpPr txBox="1">
            <a:spLocks/>
          </p:cNvSpPr>
          <p:nvPr/>
        </p:nvSpPr>
        <p:spPr>
          <a:xfrm>
            <a:off x="76936" y="2257497"/>
            <a:ext cx="8596668" cy="20435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Wingdings" charset="2"/>
              <a:buChar char="Ø"/>
            </a:pP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Medicine;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successful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difficult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sober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drunk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ambitious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professional;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competent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Germany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hope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previous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famous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advertisement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speech;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decision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insecure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secret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rest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room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men’s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room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ladie’s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room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society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confusion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chance;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dream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.</a:t>
            </a:r>
            <a:endParaRPr lang="pt-BR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1" name="Espaço Reservado para Conteúdo 2"/>
          <p:cNvSpPr txBox="1">
            <a:spLocks/>
          </p:cNvSpPr>
          <p:nvPr/>
        </p:nvSpPr>
        <p:spPr>
          <a:xfrm>
            <a:off x="438795" y="5228029"/>
            <a:ext cx="8596668" cy="10450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400" dirty="0"/>
          </a:p>
        </p:txBody>
      </p:sp>
      <p:sp>
        <p:nvSpPr>
          <p:cNvPr id="22" name="Título 1"/>
          <p:cNvSpPr txBox="1">
            <a:spLocks/>
          </p:cNvSpPr>
          <p:nvPr/>
        </p:nvSpPr>
        <p:spPr>
          <a:xfrm>
            <a:off x="76936" y="4417821"/>
            <a:ext cx="8596668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3200" dirty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EXPRESS YOURSELF</a:t>
            </a:r>
          </a:p>
        </p:txBody>
      </p:sp>
      <p:sp>
        <p:nvSpPr>
          <p:cNvPr id="23" name="Título 1"/>
          <p:cNvSpPr txBox="1">
            <a:spLocks/>
          </p:cNvSpPr>
          <p:nvPr/>
        </p:nvSpPr>
        <p:spPr>
          <a:xfrm>
            <a:off x="76936" y="415726"/>
            <a:ext cx="3788649" cy="10846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LESSON </a:t>
            </a:r>
            <a:r>
              <a:rPr lang="pt-BR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SEVEN</a:t>
            </a:r>
            <a:endParaRPr lang="pt-BR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76936" y="5519733"/>
            <a:ext cx="7400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charset="2"/>
              <a:buChar char="Ø"/>
            </a:pP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As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soon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 as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possilbe</a:t>
            </a:r>
            <a:endParaRPr lang="pt-BR" sz="24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76936" y="1176111"/>
            <a:ext cx="22031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 err="1" smtClean="0">
                <a:latin typeface="Trebuchet MS" charset="0"/>
                <a:ea typeface="Trebuchet MS" charset="0"/>
                <a:cs typeface="Trebuchet MS" charset="0"/>
              </a:rPr>
              <a:t>Vocabulary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716719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0" y="6369997"/>
            <a:ext cx="4114800" cy="365125"/>
          </a:xfrm>
        </p:spPr>
        <p:txBody>
          <a:bodyPr/>
          <a:lstStyle/>
          <a:p>
            <a:r>
              <a:rPr lang="pt-BR" sz="20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www.rawenglish.com.br</a:t>
            </a:r>
            <a:endParaRPr lang="pt-BR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330" y="69159"/>
            <a:ext cx="4475009" cy="3130737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73877" y="408915"/>
            <a:ext cx="31133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LESSON EIGHT</a:t>
            </a:r>
            <a:endParaRPr lang="pt-BR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73877" y="1055246"/>
            <a:ext cx="13012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Verbs</a:t>
            </a:r>
            <a:endParaRPr lang="pt-BR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9329738" y="5442460"/>
            <a:ext cx="2443162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600" dirty="0" smtClean="0">
                <a:latin typeface="Trebuchet MS" charset="0"/>
                <a:ea typeface="Trebuchet MS" charset="0"/>
                <a:cs typeface="Trebuchet MS" charset="0"/>
              </a:rPr>
              <a:t>SUPERLATIVE </a:t>
            </a:r>
          </a:p>
          <a:p>
            <a:pPr algn="ctr"/>
            <a:endParaRPr lang="pt-BR" sz="2600" dirty="0">
              <a:latin typeface="Trebuchet MS" charset="0"/>
              <a:ea typeface="Trebuchet MS" charset="0"/>
              <a:cs typeface="Trebuchet MS" charset="0"/>
            </a:endParaRPr>
          </a:p>
          <a:p>
            <a:pPr algn="ctr"/>
            <a:r>
              <a:rPr lang="pt-BR" sz="2600" dirty="0" smtClean="0">
                <a:latin typeface="Trebuchet MS" charset="0"/>
                <a:ea typeface="Trebuchet MS" charset="0"/>
                <a:cs typeface="Trebuchet MS" charset="0"/>
              </a:rPr>
              <a:t>COMPARATIVE</a:t>
            </a:r>
            <a:endParaRPr lang="pt-BR" sz="2600" dirty="0" smtClean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261936" y="3214433"/>
            <a:ext cx="893921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belong-belonged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explain-explained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receive-received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improve-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improved</a:t>
            </a:r>
            <a:endParaRPr lang="pt-BR" sz="32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10069456" y="4830246"/>
            <a:ext cx="9637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mtClean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REVIEW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57247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2617" y="21835"/>
            <a:ext cx="4475009" cy="3130737"/>
          </a:xfrm>
          <a:prstGeom prst="rect">
            <a:avLst/>
          </a:prstGeom>
        </p:spPr>
      </p:pic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76936" y="6389846"/>
            <a:ext cx="4114800" cy="365125"/>
          </a:xfrm>
        </p:spPr>
        <p:txBody>
          <a:bodyPr/>
          <a:lstStyle/>
          <a:p>
            <a:r>
              <a:rPr lang="pt-BR" sz="2000" dirty="0" err="1" smtClean="0">
                <a:solidFill>
                  <a:schemeClr val="tx1"/>
                </a:solidFill>
              </a:rPr>
              <a:t>www.rawenglish.com.br</a:t>
            </a:r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19" name="Espaço Reservado para Conteúdo 2"/>
          <p:cNvSpPr txBox="1">
            <a:spLocks/>
          </p:cNvSpPr>
          <p:nvPr/>
        </p:nvSpPr>
        <p:spPr>
          <a:xfrm>
            <a:off x="76936" y="2257497"/>
            <a:ext cx="8596668" cy="20435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Wingdings" charset="2"/>
              <a:buChar char="Ø"/>
            </a:pP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Driver’s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license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better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than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worse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than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the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best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the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worst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dark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light; high;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necessary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colors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yellow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orange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green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black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white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purple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pink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brown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gray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blue;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red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owner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while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toy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parking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lot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whose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.</a:t>
            </a:r>
            <a:endParaRPr lang="pt-BR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1" name="Espaço Reservado para Conteúdo 2"/>
          <p:cNvSpPr txBox="1">
            <a:spLocks/>
          </p:cNvSpPr>
          <p:nvPr/>
        </p:nvSpPr>
        <p:spPr>
          <a:xfrm>
            <a:off x="438795" y="5228029"/>
            <a:ext cx="8596668" cy="10450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400" dirty="0"/>
          </a:p>
        </p:txBody>
      </p:sp>
      <p:sp>
        <p:nvSpPr>
          <p:cNvPr id="22" name="Título 1"/>
          <p:cNvSpPr txBox="1">
            <a:spLocks/>
          </p:cNvSpPr>
          <p:nvPr/>
        </p:nvSpPr>
        <p:spPr>
          <a:xfrm>
            <a:off x="76936" y="4417821"/>
            <a:ext cx="8596668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3200" dirty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EXPRESS YOURSELF</a:t>
            </a:r>
          </a:p>
        </p:txBody>
      </p:sp>
      <p:sp>
        <p:nvSpPr>
          <p:cNvPr id="23" name="Título 1"/>
          <p:cNvSpPr txBox="1">
            <a:spLocks/>
          </p:cNvSpPr>
          <p:nvPr/>
        </p:nvSpPr>
        <p:spPr>
          <a:xfrm>
            <a:off x="76936" y="415726"/>
            <a:ext cx="3788649" cy="10846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LESSON </a:t>
            </a:r>
            <a:r>
              <a:rPr lang="pt-BR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EIGHT</a:t>
            </a:r>
            <a:endParaRPr lang="pt-BR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76936" y="5519733"/>
            <a:ext cx="74009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charset="2"/>
              <a:buChar char="Ø"/>
            </a:pP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Unless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althoug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otherwise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keep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on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be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through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.</a:t>
            </a:r>
            <a:endParaRPr lang="pt-BR" sz="24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76936" y="1176111"/>
            <a:ext cx="22031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 err="1" smtClean="0">
                <a:latin typeface="Trebuchet MS" charset="0"/>
                <a:ea typeface="Trebuchet MS" charset="0"/>
                <a:cs typeface="Trebuchet MS" charset="0"/>
              </a:rPr>
              <a:t>Vocabulary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8515087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0" y="6369997"/>
            <a:ext cx="4114800" cy="365125"/>
          </a:xfrm>
        </p:spPr>
        <p:txBody>
          <a:bodyPr/>
          <a:lstStyle/>
          <a:p>
            <a:r>
              <a:rPr lang="pt-BR" sz="20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www.rawenglish.com.br</a:t>
            </a:r>
            <a:endParaRPr lang="pt-BR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330" y="69159"/>
            <a:ext cx="4475009" cy="3130737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73877" y="408915"/>
            <a:ext cx="28216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LESSON NINE</a:t>
            </a:r>
            <a:endParaRPr lang="pt-BR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73877" y="1055246"/>
            <a:ext cx="13012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Verbs</a:t>
            </a:r>
            <a:endParaRPr lang="pt-BR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9329738" y="5442460"/>
            <a:ext cx="2443162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600" dirty="0" smtClean="0">
                <a:latin typeface="Trebuchet MS" charset="0"/>
                <a:ea typeface="Trebuchet MS" charset="0"/>
                <a:cs typeface="Trebuchet MS" charset="0"/>
              </a:rPr>
              <a:t>MANY/FEW</a:t>
            </a:r>
          </a:p>
          <a:p>
            <a:pPr algn="ctr"/>
            <a:r>
              <a:rPr lang="pt-BR" sz="2600" dirty="0" smtClean="0">
                <a:latin typeface="Trebuchet MS" charset="0"/>
                <a:ea typeface="Trebuchet MS" charset="0"/>
                <a:cs typeface="Trebuchet MS" charset="0"/>
              </a:rPr>
              <a:t>+</a:t>
            </a:r>
          </a:p>
          <a:p>
            <a:pPr algn="ctr"/>
            <a:r>
              <a:rPr lang="pt-BR" sz="2600" dirty="0" smtClean="0">
                <a:latin typeface="Trebuchet MS" charset="0"/>
                <a:ea typeface="Trebuchet MS" charset="0"/>
                <a:cs typeface="Trebuchet MS" charset="0"/>
              </a:rPr>
              <a:t>MUCH/LITTLE</a:t>
            </a:r>
            <a:endParaRPr lang="pt-BR" sz="2600" dirty="0" smtClean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261936" y="3214433"/>
            <a:ext cx="893921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book-</a:t>
            </a:r>
            <a:r>
              <a:rPr lang="pt-BR" sz="32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booked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miss-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missed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agree-agreed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/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disagree-disagreed</a:t>
            </a:r>
            <a:endParaRPr lang="pt-BR" sz="32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3964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2617" y="21835"/>
            <a:ext cx="4475009" cy="3130737"/>
          </a:xfrm>
          <a:prstGeom prst="rect">
            <a:avLst/>
          </a:prstGeom>
        </p:spPr>
      </p:pic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76936" y="6389846"/>
            <a:ext cx="4114800" cy="365125"/>
          </a:xfrm>
        </p:spPr>
        <p:txBody>
          <a:bodyPr/>
          <a:lstStyle/>
          <a:p>
            <a:r>
              <a:rPr lang="pt-BR" sz="2000" dirty="0" err="1" smtClean="0">
                <a:solidFill>
                  <a:schemeClr val="tx1"/>
                </a:solidFill>
              </a:rPr>
              <a:t>www.rawenglish.com.br</a:t>
            </a:r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19" name="Espaço Reservado para Conteúdo 2"/>
          <p:cNvSpPr txBox="1">
            <a:spLocks/>
          </p:cNvSpPr>
          <p:nvPr/>
        </p:nvSpPr>
        <p:spPr>
          <a:xfrm>
            <a:off x="76936" y="2257497"/>
            <a:ext cx="8596668" cy="20435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Wingdings" charset="2"/>
              <a:buChar char="Ø"/>
            </a:pP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Round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trip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ticket;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coach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first</a:t>
            </a:r>
            <a:r>
              <a:rPr lang="pt-BR" dirty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class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Visa; ID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card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flight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one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way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ticket;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check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in;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check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out;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exchange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rate;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abroad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reservation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take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off;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land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flight</a:t>
            </a:r>
            <a:r>
              <a:rPr lang="pt-BR" dirty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attendant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boarding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pass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aisle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seat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passenger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exit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airline</a:t>
            </a:r>
            <a:r>
              <a:rPr lang="pt-BR" dirty="0">
                <a:latin typeface="Trebuchet MS" charset="0"/>
                <a:ea typeface="Trebuchet MS" charset="0"/>
                <a:cs typeface="Trebuchet MS" charset="0"/>
              </a:rPr>
              <a:t>.</a:t>
            </a:r>
            <a:endParaRPr lang="pt-BR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1" name="Espaço Reservado para Conteúdo 2"/>
          <p:cNvSpPr txBox="1">
            <a:spLocks/>
          </p:cNvSpPr>
          <p:nvPr/>
        </p:nvSpPr>
        <p:spPr>
          <a:xfrm>
            <a:off x="438795" y="5228029"/>
            <a:ext cx="8596668" cy="10450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400" dirty="0"/>
          </a:p>
        </p:txBody>
      </p:sp>
      <p:sp>
        <p:nvSpPr>
          <p:cNvPr id="22" name="Título 1"/>
          <p:cNvSpPr txBox="1">
            <a:spLocks/>
          </p:cNvSpPr>
          <p:nvPr/>
        </p:nvSpPr>
        <p:spPr>
          <a:xfrm>
            <a:off x="76936" y="4417821"/>
            <a:ext cx="8596668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3200" dirty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EXPRESS YOURSELF</a:t>
            </a:r>
          </a:p>
        </p:txBody>
      </p:sp>
      <p:sp>
        <p:nvSpPr>
          <p:cNvPr id="23" name="Título 1"/>
          <p:cNvSpPr txBox="1">
            <a:spLocks/>
          </p:cNvSpPr>
          <p:nvPr/>
        </p:nvSpPr>
        <p:spPr>
          <a:xfrm>
            <a:off x="76936" y="415726"/>
            <a:ext cx="3788649" cy="10846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LESSON </a:t>
            </a:r>
            <a:r>
              <a:rPr lang="pt-BR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charset="0"/>
                <a:ea typeface="Trebuchet MS" charset="0"/>
                <a:cs typeface="Trebuchet MS" charset="0"/>
              </a:rPr>
              <a:t>NINE</a:t>
            </a:r>
            <a:endParaRPr lang="pt-BR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76936" y="5519733"/>
            <a:ext cx="7400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charset="2"/>
              <a:buChar char="Ø"/>
            </a:pP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Not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even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hold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on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try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on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take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sz="2400" dirty="0" err="1" smtClean="0">
                <a:latin typeface="Trebuchet MS" charset="0"/>
                <a:ea typeface="Trebuchet MS" charset="0"/>
                <a:cs typeface="Trebuchet MS" charset="0"/>
              </a:rPr>
              <a:t>care</a:t>
            </a:r>
            <a:r>
              <a:rPr lang="pt-BR" sz="2400" dirty="0" smtClean="0">
                <a:latin typeface="Trebuchet MS" charset="0"/>
                <a:ea typeface="Trebuchet MS" charset="0"/>
                <a:cs typeface="Trebuchet MS" charset="0"/>
              </a:rPr>
              <a:t>.</a:t>
            </a:r>
            <a:endParaRPr lang="pt-BR" sz="2400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76936" y="1176111"/>
            <a:ext cx="22031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 err="1" smtClean="0">
                <a:latin typeface="Trebuchet MS" charset="0"/>
                <a:ea typeface="Trebuchet MS" charset="0"/>
                <a:cs typeface="Trebuchet MS" charset="0"/>
              </a:rPr>
              <a:t>Vocabulary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4959523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5467" y="14288"/>
            <a:ext cx="4475009" cy="3130737"/>
          </a:xfrm>
          <a:prstGeom prst="rect">
            <a:avLst/>
          </a:prstGeom>
        </p:spPr>
      </p:pic>
      <p:sp>
        <p:nvSpPr>
          <p:cNvPr id="7" name="Retângulo 6"/>
          <p:cNvSpPr/>
          <p:nvPr/>
        </p:nvSpPr>
        <p:spPr>
          <a:xfrm>
            <a:off x="2422680" y="871770"/>
            <a:ext cx="45612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4000" dirty="0" smtClean="0">
                <a:solidFill>
                  <a:srgbClr val="FFFF00"/>
                </a:solidFill>
                <a:latin typeface="Trebuchet MS" charset="0"/>
                <a:ea typeface="Trebuchet MS" charset="0"/>
                <a:cs typeface="Trebuchet MS" charset="0"/>
              </a:rPr>
              <a:t>EXPRESS YOURSELF</a:t>
            </a:r>
            <a:endParaRPr lang="pt-BR" sz="4000" dirty="0">
              <a:solidFill>
                <a:srgbClr val="FFFF00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1051297" y="1872733"/>
            <a:ext cx="75497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charset="2"/>
              <a:buChar char="Ø"/>
            </a:pP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feel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down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feel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sorry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instead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of</a:t>
            </a:r>
            <a:endParaRPr lang="pt-BR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1051297" y="2350476"/>
            <a:ext cx="31748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charset="2"/>
              <a:buChar char="Ø"/>
            </a:pP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Pay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attention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in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order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to</a:t>
            </a:r>
            <a:endParaRPr lang="pt-BR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1051297" y="2828219"/>
            <a:ext cx="34726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charset="2"/>
              <a:buChar char="Ø"/>
            </a:pP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(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be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)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extremely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important</a:t>
            </a:r>
            <a:endParaRPr lang="pt-BR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1051297" y="3305962"/>
            <a:ext cx="54569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charset="2"/>
              <a:buChar char="Ø"/>
            </a:pP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Right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away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-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right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now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-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right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here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-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right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there</a:t>
            </a:r>
            <a:endParaRPr lang="pt-BR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1051297" y="3783705"/>
            <a:ext cx="18149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charset="2"/>
              <a:buChar char="Ø"/>
            </a:pP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I’m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out of...</a:t>
            </a:r>
            <a:endParaRPr lang="pt-BR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1051297" y="4153037"/>
            <a:ext cx="3905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charset="2"/>
              <a:buChar char="Ø"/>
            </a:pP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find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out;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have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my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hair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cut.</a:t>
            </a:r>
            <a:endParaRPr lang="pt-BR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15" name="Retângulo 14"/>
          <p:cNvSpPr/>
          <p:nvPr/>
        </p:nvSpPr>
        <p:spPr>
          <a:xfrm>
            <a:off x="1051297" y="4519520"/>
            <a:ext cx="24737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charset="2"/>
              <a:buChar char="Ø"/>
            </a:pP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As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soon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as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possilbe</a:t>
            </a:r>
            <a:endParaRPr lang="pt-BR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1051297" y="488885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Wingdings" charset="2"/>
              <a:buChar char="Ø"/>
            </a:pP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Unless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althoug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otherwise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keep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on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be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through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.</a:t>
            </a:r>
            <a:endParaRPr lang="pt-BR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1051297" y="5475006"/>
            <a:ext cx="52100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charset="2"/>
              <a:buChar char="Ø"/>
            </a:pP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Not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even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hold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on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try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on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;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to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take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 </a:t>
            </a:r>
            <a:r>
              <a:rPr lang="pt-BR" dirty="0" err="1" smtClean="0">
                <a:latin typeface="Trebuchet MS" charset="0"/>
                <a:ea typeface="Trebuchet MS" charset="0"/>
                <a:cs typeface="Trebuchet MS" charset="0"/>
              </a:rPr>
              <a:t>care</a:t>
            </a:r>
            <a:r>
              <a:rPr lang="pt-BR" dirty="0" smtClean="0">
                <a:latin typeface="Trebuchet MS" charset="0"/>
                <a:ea typeface="Trebuchet MS" charset="0"/>
                <a:cs typeface="Trebuchet MS" charset="0"/>
              </a:rPr>
              <a:t>.</a:t>
            </a:r>
            <a:endParaRPr lang="pt-BR" dirty="0">
              <a:latin typeface="Trebuchet MS" charset="0"/>
              <a:ea typeface="Trebuchet MS" charset="0"/>
              <a:cs typeface="Trebuchet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6403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72616"/>
              </p:ext>
            </p:extLst>
          </p:nvPr>
        </p:nvGraphicFramePr>
        <p:xfrm>
          <a:off x="515821" y="1100137"/>
          <a:ext cx="8802688" cy="54549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336"/>
                <a:gridCol w="1100336"/>
                <a:gridCol w="1100336"/>
                <a:gridCol w="1100336"/>
                <a:gridCol w="1100336"/>
                <a:gridCol w="1100336"/>
                <a:gridCol w="1100336"/>
                <a:gridCol w="1100336"/>
              </a:tblGrid>
              <a:tr h="631507">
                <a:tc>
                  <a:txBody>
                    <a:bodyPr/>
                    <a:lstStyle/>
                    <a:p>
                      <a:pPr algn="ctr"/>
                      <a:endParaRPr lang="pt-BR" sz="28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NEG</a:t>
                      </a:r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602933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pt-BR" sz="28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AM</a:t>
                      </a:r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NOT</a:t>
                      </a:r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AM</a:t>
                      </a:r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602933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YOU</a:t>
                      </a:r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ARE</a:t>
                      </a:r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ARE</a:t>
                      </a:r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YOU</a:t>
                      </a:r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602933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HE</a:t>
                      </a:r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IS</a:t>
                      </a:r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IS</a:t>
                      </a:r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HE</a:t>
                      </a:r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602933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SHE</a:t>
                      </a:r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IS</a:t>
                      </a:r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IS</a:t>
                      </a:r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SHE</a:t>
                      </a:r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602933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IT</a:t>
                      </a:r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SI</a:t>
                      </a:r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IS</a:t>
                      </a:r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IT</a:t>
                      </a:r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602933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WE</a:t>
                      </a:r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ARE</a:t>
                      </a:r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ARE</a:t>
                      </a:r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WE</a:t>
                      </a:r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602933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YOU</a:t>
                      </a:r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ARE</a:t>
                      </a:r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ARE</a:t>
                      </a:r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YOU</a:t>
                      </a:r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602933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THEY</a:t>
                      </a:r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ARE</a:t>
                      </a:r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ARE</a:t>
                      </a:r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smtClean="0">
                          <a:solidFill>
                            <a:schemeClr val="tx1"/>
                          </a:solidFill>
                        </a:rPr>
                        <a:t>THEY</a:t>
                      </a:r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5467" y="14288"/>
            <a:ext cx="4475009" cy="3130737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4157662" y="392251"/>
            <a:ext cx="15190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 smtClean="0">
                <a:solidFill>
                  <a:srgbClr val="FFFF00"/>
                </a:solidFill>
              </a:rPr>
              <a:t>TO BE</a:t>
            </a:r>
            <a:endParaRPr lang="pt-BR" sz="4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345148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2715</TotalTime>
  <Words>1220</Words>
  <Application>Microsoft Macintosh PowerPoint</Application>
  <PresentationFormat>Widescreen</PresentationFormat>
  <Paragraphs>210</Paragraphs>
  <Slides>24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0" baseType="lpstr">
      <vt:lpstr>Calibri</vt:lpstr>
      <vt:lpstr>Trebuchet MS</vt:lpstr>
      <vt:lpstr>Wingdings</vt:lpstr>
      <vt:lpstr>Wingdings 3</vt:lpstr>
      <vt:lpstr>Arial</vt:lpstr>
      <vt:lpstr>Faceta</vt:lpstr>
      <vt:lpstr>Book Three</vt:lpstr>
      <vt:lpstr>BOOK THREE</vt:lpstr>
      <vt:lpstr>Apresentação do PowerPoint</vt:lpstr>
      <vt:lpstr>LESSON ONE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15.0030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 THREE</dc:title>
  <dc:creator>rawandre@gmail.com</dc:creator>
  <cp:lastModifiedBy>rawandre@gmail.com</cp:lastModifiedBy>
  <cp:revision>35</cp:revision>
  <dcterms:created xsi:type="dcterms:W3CDTF">2017-02-02T19:52:18Z</dcterms:created>
  <dcterms:modified xsi:type="dcterms:W3CDTF">2017-02-04T17:08:07Z</dcterms:modified>
</cp:coreProperties>
</file>