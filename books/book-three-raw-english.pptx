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1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80" r:id="rId31"/>
    <p:sldId id="261" r:id="rId6"/>
    <p:sldId id="260" r:id="rId7"/>
    <p:sldId id="281" r:id="rId32"/>
    <p:sldId id="262" r:id="rId8"/>
    <p:sldId id="263" r:id="rId9"/>
    <p:sldId id="282" r:id="rId33"/>
    <p:sldId id="264" r:id="rId10"/>
    <p:sldId id="265" r:id="rId11"/>
    <p:sldId id="283" r:id="rId34"/>
    <p:sldId id="266" r:id="rId12"/>
    <p:sldId id="267" r:id="rId13"/>
    <p:sldId id="284" r:id="rId35"/>
    <p:sldId id="268" r:id="rId14"/>
    <p:sldId id="269" r:id="rId15"/>
    <p:sldId id="285" r:id="rId36"/>
    <p:sldId id="270" r:id="rId16"/>
    <p:sldId id="271" r:id="rId17"/>
    <p:sldId id="286" r:id="rId37"/>
    <p:sldId id="272" r:id="rId18"/>
    <p:sldId id="273" r:id="rId19"/>
    <p:sldId id="287" r:id="rId38"/>
    <p:sldId id="274" r:id="rId20"/>
    <p:sldId id="275" r:id="rId21"/>
    <p:sldId id="288" r:id="rId39"/>
    <p:sldId id="276" r:id="rId22"/>
    <p:sldId id="277" r:id="rId23"/>
    <p:sldId id="289" r:id="rId40"/>
    <p:sldId id="278" r:id="rId24"/>
    <p:sldId id="279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3"/>
  </p:normalViewPr>
  <p:slideViewPr>
    <p:cSldViewPr snapToGrid="0" snapToObjects="1">
      <p:cViewPr>
        <p:scale>
          <a:sx n="90" d="100"/>
          <a:sy n="90" d="100"/>
        </p:scale>
        <p:origin x="89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E199BF-B924-B24D-9C49-3B718C5F1056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49CBD-C6FC-4941-BC75-9015E6D17144}" type="slidenum">
              <a:rPr lang="pt-BR" smtClean="0"/>
              <a:t>‹n.º›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1298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9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956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985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680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3729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16402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649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587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83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54682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0492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11469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3617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43681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3381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416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8810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7993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0876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0873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49CBD-C6FC-4941-BC75-9015E6D17144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69947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Arraste a imagem para o espaço reservado ou clique no ícone para adicionar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 smtClean="0"/>
              <a:t>Clique para editar estilo do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de texto mestres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2B54A-ADF5-C747-ADB5-0018C084CC8A}" type="datetimeFigureOut">
              <a:rPr lang="pt-BR" smtClean="0"/>
              <a:t>02/02/17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C3D4BC0-B9E5-2241-B384-79103AE1E3C6}" type="slidenum">
              <a:rPr lang="pt-BR" smtClean="0"/>
              <a:t>‹n.º›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83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971800" y="2301534"/>
            <a:ext cx="4383617" cy="943504"/>
          </a:xfrm>
        </p:spPr>
        <p:txBody>
          <a:bodyPr>
            <a:normAutofit/>
          </a:bodyPr>
          <a:lstStyle/>
          <a:p>
            <a:r>
              <a:rPr lang="pt-BR" sz="5400" dirty="0" smtClean="0">
                <a:latin typeface="Trebuchet MS" charset="0"/>
                <a:ea typeface="Trebuchet MS" charset="0"/>
                <a:cs typeface="Trebuchet MS" charset="0"/>
              </a:rPr>
              <a:t>Book </a:t>
            </a:r>
            <a:r>
              <a:rPr lang="pt-BR" sz="5400" dirty="0" err="1" smtClean="0">
                <a:latin typeface="Trebuchet MS" charset="0"/>
                <a:ea typeface="Trebuchet MS" charset="0"/>
                <a:cs typeface="Trebuchet MS" charset="0"/>
              </a:rPr>
              <a:t>Three</a:t>
            </a:r>
            <a:endParaRPr lang="pt-BR" sz="5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714500" y="3245038"/>
            <a:ext cx="7766936" cy="1807042"/>
          </a:xfrm>
        </p:spPr>
        <p:txBody>
          <a:bodyPr>
            <a:noAutofit/>
          </a:bodyPr>
          <a:lstStyle/>
          <a:p>
            <a:pPr algn="ctr"/>
            <a:r>
              <a:rPr lang="pt-BR" sz="5400" dirty="0" smtClean="0">
                <a:solidFill>
                  <a:schemeClr val="accent1">
                    <a:lumMod val="75000"/>
                  </a:schemeClr>
                </a:solidFill>
              </a:rPr>
              <a:t>Fale inglês rápido e com confiança!</a:t>
            </a:r>
            <a:br>
              <a:rPr lang="pt-BR" sz="5400" dirty="0" smtClean="0">
                <a:solidFill>
                  <a:schemeClr val="accent1">
                    <a:lumMod val="75000"/>
                  </a:schemeClr>
                </a:solidFill>
              </a:rPr>
            </a:br>
            <a:endParaRPr lang="pt-BR" sz="54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5467" y="14288"/>
            <a:ext cx="4475009" cy="31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64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-385763" y="0"/>
            <a:ext cx="3967163" cy="675564"/>
          </a:xfrm>
        </p:spPr>
        <p:txBody>
          <a:bodyPr>
            <a:normAutofit/>
          </a:bodyPr>
          <a:lstStyle/>
          <a:p>
            <a:r>
              <a:rPr lang="pt-BR" sz="3600" b="1" dirty="0" smtClean="0">
                <a:latin typeface="Trebuchet MS" charset="0"/>
                <a:ea typeface="Trebuchet MS" charset="0"/>
                <a:cs typeface="Trebuchet MS" charset="0"/>
              </a:rPr>
              <a:t>BOOK THREE</a:t>
            </a:r>
            <a:endParaRPr lang="pt-BR" sz="3600" b="1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1988918"/>
            <a:ext cx="9144000" cy="4503957"/>
          </a:xfrm>
        </p:spPr>
        <p:txBody>
          <a:bodyPr>
            <a:noAutofit/>
          </a:bodyPr>
          <a:lstStyle/>
          <a:p>
            <a:pPr marL="342900" indent="-342900" algn="l">
              <a:buFont typeface="Wingdings" charset="2"/>
              <a:buChar char="Ø"/>
            </a:pPr>
            <a:r>
              <a:rPr lang="pt-BR" sz="2400" dirty="0" smtClean="0">
                <a:solidFill>
                  <a:srgbClr val="FF0000"/>
                </a:solidFill>
              </a:rPr>
              <a:t>HOW </a:t>
            </a:r>
            <a:r>
              <a:rPr lang="pt-BR" sz="2400" dirty="0">
                <a:solidFill>
                  <a:srgbClr val="FF0000"/>
                </a:solidFill>
              </a:rPr>
              <a:t>TO SPEAK ENGLISH FAST</a:t>
            </a:r>
            <a:r>
              <a:rPr lang="pt-BR" sz="2400" dirty="0" smtClean="0">
                <a:solidFill>
                  <a:srgbClr val="FF0000"/>
                </a:solidFill>
              </a:rPr>
              <a:t>...</a:t>
            </a:r>
            <a:endParaRPr lang="pt-BR" sz="2400" dirty="0">
              <a:solidFill>
                <a:srgbClr val="FF0000"/>
              </a:solidFill>
            </a:endParaRPr>
          </a:p>
          <a:p>
            <a:pPr marL="342900" indent="-342900" algn="l">
              <a:buFont typeface="Wingdings" charset="2"/>
              <a:buChar char="Ø"/>
            </a:pPr>
            <a:r>
              <a:rPr lang="pt-BR" sz="2400" dirty="0" smtClean="0">
                <a:solidFill>
                  <a:schemeClr val="bg2">
                    <a:lumMod val="10000"/>
                  </a:schemeClr>
                </a:solidFill>
              </a:rPr>
              <a:t>Fale </a:t>
            </a: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inglês rápido e com confiança, na </a:t>
            </a:r>
            <a:r>
              <a:rPr lang="pt-BR" sz="2400" dirty="0" err="1">
                <a:solidFill>
                  <a:schemeClr val="bg2">
                    <a:lumMod val="10000"/>
                  </a:schemeClr>
                </a:solidFill>
              </a:rPr>
              <a:t>Raw</a:t>
            </a: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bg2">
                    <a:lumMod val="10000"/>
                  </a:schemeClr>
                </a:solidFill>
              </a:rPr>
              <a:t>English</a:t>
            </a: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bg2">
                    <a:lumMod val="10000"/>
                  </a:schemeClr>
                </a:solidFill>
              </a:rPr>
              <a:t>consultant</a:t>
            </a: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 você </a:t>
            </a:r>
            <a:r>
              <a:rPr lang="pt-BR" sz="2400" dirty="0" smtClean="0">
                <a:solidFill>
                  <a:schemeClr val="bg2">
                    <a:lumMod val="10000"/>
                  </a:schemeClr>
                </a:solidFill>
              </a:rPr>
              <a:t>  aprende </a:t>
            </a: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inglês da forma correta e com 100% de comunicação oral...</a:t>
            </a:r>
          </a:p>
          <a:p>
            <a:pPr marL="342900" indent="-342900" algn="l">
              <a:buFont typeface="Wingdings" charset="2"/>
              <a:buChar char="Ø"/>
            </a:pPr>
            <a:r>
              <a:rPr lang="pt-BR" sz="2400" dirty="0">
                <a:solidFill>
                  <a:srgbClr val="FF0000"/>
                </a:solidFill>
              </a:rPr>
              <a:t>TO EDUCATE PEOPLE IN THE ENGLISH LANGUAGE IN A FAST AND PROPER WAY...</a:t>
            </a:r>
          </a:p>
          <a:p>
            <a:pPr marL="342900" indent="-342900" algn="l">
              <a:buFont typeface="Wingdings" charset="2"/>
              <a:buChar char="Ø"/>
            </a:pPr>
            <a:r>
              <a:rPr lang="pt-BR" sz="2400" dirty="0">
                <a:solidFill>
                  <a:schemeClr val="bg2">
                    <a:lumMod val="10000"/>
                  </a:schemeClr>
                </a:solidFill>
              </a:rPr>
              <a:t>Educar pessoas sobre a língua Inglesa rapidamente e na maneira correta...</a:t>
            </a:r>
          </a:p>
          <a:p>
            <a:pPr marL="342900" indent="-342900" algn="l">
              <a:buFont typeface="Wingdings" charset="2"/>
              <a:buChar char="Ø"/>
            </a:pPr>
            <a:endParaRPr lang="pt-BR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92" y="0"/>
            <a:ext cx="4475009" cy="313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68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86212" y="2609231"/>
            <a:ext cx="8258175" cy="1531376"/>
          </a:xfrm>
        </p:spPr>
        <p:txBody>
          <a:bodyPr>
            <a:noAutofit/>
          </a:bodyPr>
          <a:lstStyle/>
          <a:p>
            <a:pPr marL="457200" indent="-457200" algn="l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Use-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used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prepare-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prepared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spend-spent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feel-felt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  <a:p>
            <a:pPr algn="l"/>
            <a:endParaRPr lang="pt-BR" sz="5400" dirty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-53340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5467" y="0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394378"/>
            <a:ext cx="270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ONE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2" name="CaixaDeTexto 11"/>
          <p:cNvSpPr txBox="1"/>
          <p:nvPr/>
        </p:nvSpPr>
        <p:spPr>
          <a:xfrm>
            <a:off x="9744076" y="5442460"/>
            <a:ext cx="1996059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USED TO 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HOW OFTEN</a:t>
            </a:r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156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-162073" y="201896"/>
            <a:ext cx="3086100" cy="943504"/>
          </a:xfrm>
        </p:spPr>
        <p:txBody>
          <a:bodyPr>
            <a:normAutofit/>
          </a:bodyPr>
          <a:lstStyle/>
          <a:p>
            <a:r>
              <a:rPr lang="pt-BR" sz="36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LESSON</a:t>
            </a:r>
            <a:r>
              <a:rPr lang="pt-BR" sz="5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6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ONE</a:t>
            </a:r>
            <a:endParaRPr lang="pt-BR" sz="3600" dirty="0">
              <a:solidFill>
                <a:schemeClr val="tx1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-19050" y="6380908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042" y="116250"/>
            <a:ext cx="4475009" cy="3130737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145389" y="1096844"/>
            <a:ext cx="2192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331126" y="4880312"/>
            <a:ext cx="7029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smtClean="0">
                <a:latin typeface="Trebuchet MS" charset="0"/>
                <a:ea typeface="Trebuchet MS" charset="0"/>
                <a:cs typeface="Trebuchet MS" charset="0"/>
              </a:rPr>
              <a:t>EXPRESS YOURSELF</a:t>
            </a:r>
            <a:endParaRPr lang="pt-BR" sz="32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1088" y="5686709"/>
            <a:ext cx="57858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feel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down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feel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sorry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instead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of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0" name="Retângulo 9"/>
          <p:cNvSpPr/>
          <p:nvPr/>
        </p:nvSpPr>
        <p:spPr>
          <a:xfrm>
            <a:off x="0" y="2683779"/>
            <a:ext cx="882491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Supper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leftovers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snack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snack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 bar;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confident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seafood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excited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sleepy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appetizer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vinegar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olive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oil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candy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garbage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dirty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embarrassed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gold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silver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angry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thing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toast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spice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sugar; cash; </a:t>
            </a:r>
            <a:r>
              <a:rPr lang="pt-BR" sz="24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ring</a:t>
            </a:r>
            <a:r>
              <a:rPr lang="pt-BR" sz="24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400" dirty="0" smtClean="0">
              <a:solidFill>
                <a:schemeClr val="tx1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40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3270099"/>
            <a:ext cx="9855937" cy="1531376"/>
          </a:xfrm>
        </p:spPr>
        <p:txBody>
          <a:bodyPr>
            <a:noAutofit/>
          </a:bodyPr>
          <a:lstStyle/>
          <a:p>
            <a:pPr marL="457200" indent="-457200" algn="l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teach-taught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learn-learned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remember-remembered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believe-believed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  <a:p>
            <a:pPr algn="l"/>
            <a:endParaRPr lang="pt-BR" sz="5400" dirty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394378"/>
            <a:ext cx="2819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TWO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592908" y="5259897"/>
            <a:ext cx="2137129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CAN/COULD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BE ABLE TO</a:t>
            </a:r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517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0" y="2492395"/>
            <a:ext cx="8596668" cy="1655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Attention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noisy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noise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quiet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silence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salesman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saleswoman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employee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employer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beginning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product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available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punctual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impatient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forgetful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kids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teenager;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semester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sale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lady;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coworker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end.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130792" y="436237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240012" y="401739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LESSON TWO </a:t>
            </a:r>
          </a:p>
        </p:txBody>
      </p:sp>
      <p:sp>
        <p:nvSpPr>
          <p:cNvPr id="27" name="CaixaDeTexto 26"/>
          <p:cNvSpPr txBox="1"/>
          <p:nvPr/>
        </p:nvSpPr>
        <p:spPr>
          <a:xfrm>
            <a:off x="0" y="5566895"/>
            <a:ext cx="4429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Pay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attention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in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order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8" name="Retângulo 27"/>
          <p:cNvSpPr/>
          <p:nvPr/>
        </p:nvSpPr>
        <p:spPr>
          <a:xfrm>
            <a:off x="240012" y="1205220"/>
            <a:ext cx="24889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6423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3270099"/>
            <a:ext cx="9855937" cy="1531376"/>
          </a:xfrm>
        </p:spPr>
        <p:txBody>
          <a:bodyPr>
            <a:noAutofit/>
          </a:bodyPr>
          <a:lstStyle/>
          <a:p>
            <a:pPr marL="457200" indent="-457200" algn="l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build-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built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get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married-got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married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tell-told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may-might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  <a:p>
            <a:pPr algn="l"/>
            <a:endParaRPr lang="pt-BR" sz="5400" dirty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394378"/>
            <a:ext cx="3180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THREE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592908" y="5259897"/>
            <a:ext cx="2137129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MIGHT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MAY</a:t>
            </a:r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8857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0" y="2492395"/>
            <a:ext cx="8596668" cy="1655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Anxious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wedding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everybody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groom; bride;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Italian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Mexican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nobody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joke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somebody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truth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lie;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serious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funny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anybody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strong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body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thin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fat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own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completely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appointment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address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130792" y="436237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240012" y="401739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THREE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0" y="5566895"/>
            <a:ext cx="4429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(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be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)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extremely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important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240012" y="1162279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72880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394378"/>
            <a:ext cx="2978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FOUR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592908" y="5259897"/>
            <a:ext cx="2137129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MUST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SHOULD</a:t>
            </a:r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167124" y="2297701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promise-promised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listen-listened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stop-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stopped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change-changed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706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240012" y="2410980"/>
            <a:ext cx="8596668" cy="1655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Warm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sunny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rainy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season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spring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summer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fall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winter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disappointed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concert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invitation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artist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around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world;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immediately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cab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driver;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loud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which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130792" y="4362372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240012" y="401739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FOUR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240012" y="5590884"/>
            <a:ext cx="74009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away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now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here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there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240012" y="1162279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134888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-33787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73877" y="394378"/>
            <a:ext cx="27446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FIVE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2818539" y="1179442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REVIEW</a:t>
            </a:r>
            <a:endParaRPr lang="pt-BR" sz="360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73876" y="1946102"/>
            <a:ext cx="978206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Use-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used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prepare-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prepared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spend-spent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feel-felt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7" name="Retângulo 6"/>
          <p:cNvSpPr/>
          <p:nvPr/>
        </p:nvSpPr>
        <p:spPr>
          <a:xfrm>
            <a:off x="73876" y="4008961"/>
            <a:ext cx="978206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build-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built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get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married-got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married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tell-told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may-might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73876" y="2930995"/>
            <a:ext cx="951903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teach-taught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learn-learned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remember-remembered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believe-believed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0" name="Retângulo 9"/>
          <p:cNvSpPr/>
          <p:nvPr/>
        </p:nvSpPr>
        <p:spPr>
          <a:xfrm>
            <a:off x="73876" y="5086179"/>
            <a:ext cx="931301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promise-promised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listen-listened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stop-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stopped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change-changed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049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240012" y="2394767"/>
            <a:ext cx="8596668" cy="1655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Attention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noisy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noise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quiet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silence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salesman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saleswoman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employee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employer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beginning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product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available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punctual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impatient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forgetful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kids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teenager;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semester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sale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lady;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coworker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end.</a:t>
            </a:r>
            <a:endParaRPr lang="pt-BR" sz="20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240012" y="401739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FIVE</a:t>
            </a:r>
          </a:p>
          <a:p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3635553" y="651680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REVIEW</a:t>
            </a:r>
            <a:endParaRPr lang="pt-BR" sz="3200" dirty="0"/>
          </a:p>
        </p:txBody>
      </p:sp>
      <p:sp>
        <p:nvSpPr>
          <p:cNvPr id="6" name="Retângulo 5"/>
          <p:cNvSpPr/>
          <p:nvPr/>
        </p:nvSpPr>
        <p:spPr>
          <a:xfrm>
            <a:off x="240012" y="1206645"/>
            <a:ext cx="834677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Supper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leftovers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snack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snack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 bar;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confident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seafood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excited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sleepy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appetizer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vinegar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olive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oil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candy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garbage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dirty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embarrassed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gold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silver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angry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thing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toast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spice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; sugar; cash; </a:t>
            </a:r>
            <a:r>
              <a:rPr lang="pt-BR" sz="2000" dirty="0" err="1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ring</a:t>
            </a:r>
            <a:r>
              <a:rPr lang="pt-BR" sz="2000" dirty="0" smtClean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000" dirty="0" smtClean="0">
              <a:solidFill>
                <a:schemeClr val="tx1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7" name="Retângulo 6"/>
          <p:cNvSpPr/>
          <p:nvPr/>
        </p:nvSpPr>
        <p:spPr>
          <a:xfrm>
            <a:off x="227984" y="3575919"/>
            <a:ext cx="901828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Anxious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wedding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everybody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groom; bride;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Italian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Mexican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nobody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joke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somebody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truth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lie;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serious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funny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anybody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strong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body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thin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fat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own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completely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appointment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address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0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8" name="Retângulo 7"/>
          <p:cNvSpPr/>
          <p:nvPr/>
        </p:nvSpPr>
        <p:spPr>
          <a:xfrm>
            <a:off x="227984" y="4903016"/>
            <a:ext cx="860869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Warm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sunny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rainy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season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spring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summer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fall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winter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disappointed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concert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invitation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artist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around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world;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immediately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cab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song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driver;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loud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low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which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000" dirty="0" err="1" smtClean="0">
                <a:latin typeface="Trebuchet MS" charset="0"/>
                <a:ea typeface="Trebuchet MS" charset="0"/>
                <a:cs typeface="Trebuchet MS" charset="0"/>
              </a:rPr>
              <a:t>hat</a:t>
            </a:r>
            <a:r>
              <a:rPr lang="pt-BR" sz="2000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000" dirty="0"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93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408915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SIX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635770" y="5442460"/>
            <a:ext cx="2137129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smtClean="0">
                <a:latin typeface="Trebuchet MS" charset="0"/>
                <a:ea typeface="Trebuchet MS" charset="0"/>
                <a:cs typeface="Trebuchet MS" charset="0"/>
              </a:rPr>
              <a:t>BE </a:t>
            </a:r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GOING TO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261936" y="3214433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order-ordered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lend-lent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borrow-borrowed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make-made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92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76936" y="2257497"/>
            <a:ext cx="8596668" cy="16556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Bank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account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amount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mother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in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father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in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in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daughter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in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salary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interest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minimum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personality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mistake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danger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deal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order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desperate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impression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phone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phone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book;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change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collect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call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between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international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call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distance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call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among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76936" y="4417821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76936" y="415726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SIX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76936" y="5519733"/>
            <a:ext cx="74009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I’m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out of...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76936" y="1176111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6369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408915"/>
            <a:ext cx="31390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SEVEN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635770" y="5442460"/>
            <a:ext cx="2137129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MORE THAN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LESS THAN</a:t>
            </a:r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261936" y="3214433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find-found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lose-lost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laugh-laughed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worry-worried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1720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76936" y="2257497"/>
            <a:ext cx="8596668" cy="20435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Cute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hairdresser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hair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short;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unusual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hairstyle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suggestion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rude;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polite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upset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usual;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finally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crowded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large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reason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tough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calm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curious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comfortable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north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south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west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;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east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less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76936" y="4417821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76936" y="415726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SEVEN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76936" y="5519733"/>
            <a:ext cx="74009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find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out;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have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my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hair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cut.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76936" y="1176111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479131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408915"/>
            <a:ext cx="31390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SEVEN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635770" y="5442460"/>
            <a:ext cx="2137129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AS...AS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261936" y="3214433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hope-hoped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keep-kept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happen-happened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decide-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decided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317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76936" y="2257497"/>
            <a:ext cx="8596668" cy="20435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Medicine;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successful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difficult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sober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drunk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ambitious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professional;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competent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Germany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hope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previous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famous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advertisement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speech;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decision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insecure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secret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rest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room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men’s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room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ladie’s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room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society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confusion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chance;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dream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76936" y="4417821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76936" y="415726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SEVEN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76936" y="5519733"/>
            <a:ext cx="74009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As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soon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as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possible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76936" y="1176111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716719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408915"/>
            <a:ext cx="3113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EIGHT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329738" y="5442460"/>
            <a:ext cx="2443162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SUPERLATIVE </a:t>
            </a:r>
          </a:p>
          <a:p>
            <a:pPr algn="ctr"/>
            <a:endParaRPr lang="pt-BR" sz="2600" dirty="0">
              <a:latin typeface="Trebuchet MS" charset="0"/>
              <a:ea typeface="Trebuchet MS" charset="0"/>
              <a:cs typeface="Trebuchet MS" charset="0"/>
            </a:endParaRP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COMPARATIVE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261936" y="3214433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belong-belonged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explain-explained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receive-received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improve-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improved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10069456" y="4830246"/>
            <a:ext cx="9637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REVIEW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5724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76936" y="2257497"/>
            <a:ext cx="8596668" cy="20435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Driver’s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license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better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worse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than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worst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dark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light; high;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necessary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colors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yellow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orange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green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black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white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purple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pink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brown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gray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blue;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red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owner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while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parking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lot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whose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76936" y="4417821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76936" y="415726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EIGHT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76936" y="5519733"/>
            <a:ext cx="74009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Unless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although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otherwise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keep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be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through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76936" y="1176111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8515087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0" y="6369997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www.rawenglish.com.br</a:t>
            </a:r>
            <a:endParaRPr lang="pt-BR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330" y="69159"/>
            <a:ext cx="4475009" cy="3130737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73877" y="408915"/>
            <a:ext cx="28216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NINE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73877" y="1055246"/>
            <a:ext cx="1301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Verbs</a:t>
            </a:r>
            <a:endParaRPr lang="pt-BR" sz="3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9329738" y="5442460"/>
            <a:ext cx="2443162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MANY/FEW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+</a:t>
            </a:r>
          </a:p>
          <a:p>
            <a:pPr algn="ctr"/>
            <a:r>
              <a:rPr lang="pt-BR" sz="2600" dirty="0" smtClean="0">
                <a:latin typeface="Trebuchet MS" charset="0"/>
                <a:ea typeface="Trebuchet MS" charset="0"/>
                <a:cs typeface="Trebuchet MS" charset="0"/>
              </a:rPr>
              <a:t>MUCH/LITTLE</a:t>
            </a:r>
            <a:endParaRPr lang="pt-BR" sz="2600" dirty="0" smtClean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261936" y="3214433"/>
            <a:ext cx="893921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Wingdings" charset="2"/>
              <a:buChar char="Ø"/>
            </a:pP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book-</a:t>
            </a:r>
            <a:r>
              <a:rPr lang="pt-BR" sz="32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booked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miss-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missed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agree-agreed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/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320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320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disagree-disagreed</a:t>
            </a:r>
            <a:endParaRPr lang="pt-BR" sz="320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964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617" y="21835"/>
            <a:ext cx="4475009" cy="3130737"/>
          </a:xfrm>
          <a:prstGeom prst="rect">
            <a:avLst/>
          </a:prstGeom>
        </p:spPr>
      </p:pic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6936" y="6389846"/>
            <a:ext cx="4114800" cy="365125"/>
          </a:xfrm>
        </p:spPr>
        <p:txBody>
          <a:bodyPr/>
          <a:lstStyle/>
          <a:p>
            <a:r>
              <a:rPr lang="pt-BR" sz="2000" dirty="0" err="1" smtClean="0">
                <a:solidFill>
                  <a:schemeClr val="tx1"/>
                </a:solidFill>
              </a:rPr>
              <a:t>www.rawenglish.com.br</a:t>
            </a:r>
            <a:endParaRPr lang="pt-BR" sz="2000" dirty="0">
              <a:solidFill>
                <a:schemeClr val="tx1"/>
              </a:solidFill>
            </a:endParaRPr>
          </a:p>
        </p:txBody>
      </p:sp>
      <p:sp>
        <p:nvSpPr>
          <p:cNvPr id="19" name="Espaço Reservado para Conteúdo 2"/>
          <p:cNvSpPr txBox="1">
            <a:spLocks/>
          </p:cNvSpPr>
          <p:nvPr/>
        </p:nvSpPr>
        <p:spPr>
          <a:xfrm>
            <a:off x="76936" y="2257497"/>
            <a:ext cx="8596668" cy="20435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charset="2"/>
              <a:buChar char="Ø"/>
            </a:pP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Round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trip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ticket;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coach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first</a:t>
            </a:r>
            <a:r>
              <a:rPr lang="pt-BR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class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Visa; ID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card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flight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one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way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ticket;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check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in;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check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out;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exchange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rate;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abroad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reservation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take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off;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land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flight</a:t>
            </a:r>
            <a:r>
              <a:rPr lang="pt-BR" dirty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attendant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boarding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pass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aisle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seat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passenger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exit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airline</a:t>
            </a:r>
            <a:r>
              <a:rPr lang="pt-BR" dirty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1" name="Espaço Reservado para Conteúdo 2"/>
          <p:cNvSpPr txBox="1">
            <a:spLocks/>
          </p:cNvSpPr>
          <p:nvPr/>
        </p:nvSpPr>
        <p:spPr>
          <a:xfrm>
            <a:off x="438795" y="5228029"/>
            <a:ext cx="8596668" cy="1045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2400" dirty="0"/>
          </a:p>
        </p:txBody>
      </p:sp>
      <p:sp>
        <p:nvSpPr>
          <p:cNvPr id="22" name="Título 1"/>
          <p:cNvSpPr txBox="1">
            <a:spLocks/>
          </p:cNvSpPr>
          <p:nvPr/>
        </p:nvSpPr>
        <p:spPr>
          <a:xfrm>
            <a:off x="76936" y="4417821"/>
            <a:ext cx="8596668" cy="843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3200" dirty="0">
                <a:solidFill>
                  <a:schemeClr val="tx1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</a:p>
        </p:txBody>
      </p:sp>
      <p:sp>
        <p:nvSpPr>
          <p:cNvPr id="23" name="Título 1"/>
          <p:cNvSpPr txBox="1">
            <a:spLocks/>
          </p:cNvSpPr>
          <p:nvPr/>
        </p:nvSpPr>
        <p:spPr>
          <a:xfrm>
            <a:off x="76936" y="415726"/>
            <a:ext cx="3788649" cy="10846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LESSON </a:t>
            </a:r>
            <a:r>
              <a:rPr lang="pt-BR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rebuchet MS" charset="0"/>
                <a:ea typeface="Trebuchet MS" charset="0"/>
                <a:cs typeface="Trebuchet MS" charset="0"/>
              </a:rPr>
              <a:t>NINE</a:t>
            </a:r>
            <a:endParaRPr lang="pt-BR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>
            <a:off x="76936" y="5519733"/>
            <a:ext cx="74009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Not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even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hold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try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take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sz="2400" dirty="0" err="1" smtClean="0">
                <a:latin typeface="Trebuchet MS" charset="0"/>
                <a:ea typeface="Trebuchet MS" charset="0"/>
                <a:cs typeface="Trebuchet MS" charset="0"/>
              </a:rPr>
              <a:t>care</a:t>
            </a:r>
            <a:r>
              <a:rPr lang="pt-BR" sz="2400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sz="2400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76936" y="1176111"/>
            <a:ext cx="2203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 err="1" smtClean="0">
                <a:latin typeface="Trebuchet MS" charset="0"/>
                <a:ea typeface="Trebuchet MS" charset="0"/>
                <a:cs typeface="Trebuchet MS" charset="0"/>
              </a:rPr>
              <a:t>Vocabulary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49595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5467" y="14288"/>
            <a:ext cx="4475009" cy="3130737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2422680" y="871770"/>
            <a:ext cx="456124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000" dirty="0" smtClean="0">
                <a:solidFill>
                  <a:srgbClr val="FFFF00"/>
                </a:solidFill>
                <a:latin typeface="Trebuchet MS" charset="0"/>
                <a:ea typeface="Trebuchet MS" charset="0"/>
                <a:cs typeface="Trebuchet MS" charset="0"/>
              </a:rPr>
              <a:t>EXPRESS YOURSELF</a:t>
            </a:r>
            <a:endParaRPr lang="pt-BR" sz="4000" dirty="0">
              <a:solidFill>
                <a:srgbClr val="FFFF00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9" name="Retângulo 8"/>
          <p:cNvSpPr/>
          <p:nvPr/>
        </p:nvSpPr>
        <p:spPr>
          <a:xfrm>
            <a:off x="1051297" y="1872733"/>
            <a:ext cx="75497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feel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down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feel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sorry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instead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of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0" name="Retângulo 9"/>
          <p:cNvSpPr/>
          <p:nvPr/>
        </p:nvSpPr>
        <p:spPr>
          <a:xfrm>
            <a:off x="1051297" y="2350476"/>
            <a:ext cx="31748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Pay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attention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in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order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1051297" y="2828219"/>
            <a:ext cx="34726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(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)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extremely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important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1051297" y="3305962"/>
            <a:ext cx="54569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away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now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here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-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right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there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1051297" y="3783705"/>
            <a:ext cx="1814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I’m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out of...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1051297" y="4153037"/>
            <a:ext cx="3905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find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out;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have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my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hair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cut.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5" name="Retângulo 14"/>
          <p:cNvSpPr/>
          <p:nvPr/>
        </p:nvSpPr>
        <p:spPr>
          <a:xfrm>
            <a:off x="1051297" y="4519520"/>
            <a:ext cx="24737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As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soon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as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possible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1051297" y="4888852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Unless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although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otherwise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keep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be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through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1051297" y="5475006"/>
            <a:ext cx="52100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charset="2"/>
              <a:buChar char="Ø"/>
            </a:pP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Not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even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hold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try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on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;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to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take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 </a:t>
            </a:r>
            <a:r>
              <a:rPr lang="pt-BR" dirty="0" err="1" smtClean="0">
                <a:latin typeface="Trebuchet MS" charset="0"/>
                <a:ea typeface="Trebuchet MS" charset="0"/>
                <a:cs typeface="Trebuchet MS" charset="0"/>
              </a:rPr>
              <a:t>care</a:t>
            </a:r>
            <a:r>
              <a:rPr lang="pt-BR" dirty="0" smtClean="0">
                <a:latin typeface="Trebuchet MS" charset="0"/>
                <a:ea typeface="Trebuchet MS" charset="0"/>
                <a:cs typeface="Trebuchet MS" charset="0"/>
              </a:rPr>
              <a:t>.</a:t>
            </a:r>
            <a:endParaRPr lang="pt-BR" dirty="0">
              <a:latin typeface="Trebuchet MS" charset="0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7640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72616"/>
              </p:ext>
            </p:extLst>
          </p:nvPr>
        </p:nvGraphicFramePr>
        <p:xfrm>
          <a:off x="515821" y="1100137"/>
          <a:ext cx="8802688" cy="545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336"/>
                <a:gridCol w="1100336"/>
                <a:gridCol w="1100336"/>
                <a:gridCol w="1100336"/>
                <a:gridCol w="1100336"/>
                <a:gridCol w="1100336"/>
                <a:gridCol w="1100336"/>
                <a:gridCol w="1100336"/>
              </a:tblGrid>
              <a:tr h="631507">
                <a:tc>
                  <a:txBody>
                    <a:bodyPr/>
                    <a:lstStyle/>
                    <a:p>
                      <a:pPr algn="ctr"/>
                      <a:endParaRPr lang="pt-BR" sz="28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NEG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err="1" smtClean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pt-BR" sz="28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AM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AM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err="1" smtClean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YOU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YOU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HE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HE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SHE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SHE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IS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IT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WE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WE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YOU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YOU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602933"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THEY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800" dirty="0" smtClean="0">
                          <a:solidFill>
                            <a:schemeClr val="tx1"/>
                          </a:solidFill>
                        </a:rPr>
                        <a:t>THEY</a:t>
                      </a:r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5467" y="14288"/>
            <a:ext cx="4475009" cy="3130737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4157662" y="392251"/>
            <a:ext cx="15190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 smtClean="0">
                <a:solidFill>
                  <a:srgbClr val="FFFF00"/>
                </a:solidFill>
              </a:rPr>
              <a:t>TO BE</a:t>
            </a:r>
            <a:endParaRPr lang="pt-BR" sz="40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451484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used to prepare supper every night.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costumava preparar a ceia toda noite.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spent time with the appetizers.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gastou tempo com os aperitivos.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felt embarrassed and angry.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se sentiu envergonhado e com raiva.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How often do you feel sleepy?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Com que frequência você sente sono?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used to feel confident about seafood.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costumava me sentir confiante sobre frutos do mar.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Instead of candy, I prepared toast with olive oil.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Ao invés de doce, eu preparei torrada com azeite.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can remember the beginning of the semester.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consigo lembrar o início do semestre.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could teach the kids last year.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conseguia ensinar as crianças ano passado.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was able to learn the product.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conseguiu aprender sobre o produto.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Pay attention! The teenager is noisy.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Preste atenção! O adolescente é barulhento.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believed the employee was punctual.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acreditei que o empregado era pontual.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Could you be quiet, please?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Você poderia ficar quieto, por favor?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They got married at an Italian wedding.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Eles se casaram em um casamento italiano.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told everybody a funny joke.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contou para todo mundo uma piada engraçada.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might build something completely new.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pode construir algo completamente novo.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may have an appointment with somebody.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posso ter um compromisso com alguém.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Nobody told the truth about the lie.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Ninguém contou a verdade sobre a mentira.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bride and groom may be anxious.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A noiva e o noivo podem estar ansiosos.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FOUR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must listen to the concert invitation.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devo ouvir o convite do concerto.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should stop immediately.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deveria parar imediatamente.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promised to change right away.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prometeu mudar imediatamente.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driver was disappointed with the song.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O motorista ficou desapontado com a música.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You should listen to the artist.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Você deveria ouvir o artista.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Which hat? The warm, sunny one.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Qual chapéu? O quente, ensolarado.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REVIEW — LESSONS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used to believe I could build anything.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costumava acreditar que podia construir qualquer coisa.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must have felt embarrassed.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deve ter se sentido envergonhada.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told me he might change his mind.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me disse que poderia mudar de ideia.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We should stop and remember the beginning.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Nós deveríamos parar e lembrar o início.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They promised to prepare something immediately.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Eles prometeram preparar algo imediatamente.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How often did you get married?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Quantas vezes você se casou?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SIX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am going to order from the bank account.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vou pedir da conta bancária.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lent money to her mother-in-law.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emprestou dinheiro para a sogra.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borrowed the phone to make a deal.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emprestou o telefone para fazer um negócio.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I'm out of salary this month.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Estou sem salário este mês.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We are going to make a good impression.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Nós vamos causar uma boa impressão.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minimum amount was a mistake.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O valor mínimo foi um erro.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SEVEN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found more than a suggestion.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encontrei mais do que uma sugestão.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lost her unusual hairstyle.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perdeu seu penteado incomum.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laughed, that was rude and impolite.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riu, isso foi grosseiro e indelicado.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worried less than usual.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me preocupei menos que o normal.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wants to find out and have her hair cut.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quer descobrir e cortar o cabelo.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reason was tough but I stayed calm.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O motivo foi difícil mas eu fiquei calmo.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hope to be as successful as possible.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espero ser tão bem-sucedido quanto possível.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kept the secret as long as she could.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guardou o segredo o máximo que pôde.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It happened as soon as possible.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Aconteceu o mais rápido possível.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decided the medicine was necessary.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decidiu que o remédio era necessário.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speech was as professional as the advertisement.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O discurso foi tão profissional quanto a propaganda.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kept hoping for a famous decision.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continuei esperando por uma decisão famosa.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NINE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This is better than the worst option.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Isso é melhor que a pior opção.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explained the driver's license colors.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explicou as cores da carteira de motorista.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received the best grade, although it was difficult.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recebeu a melhor nota, embora fosse difícil.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The yellow one belonged to the owner.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O amarelo pertencia ao dono.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I improved, unless otherwise.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melhorei, a não ser que não.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Keep on! We are through with the dark part.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Continue! Nós terminamos a parte difícil.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</a:rPr>
              <a:t>LESSON 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86C00"/>
                </a:solidFill>
              </a:rPr>
              <a:t>PRACTICE /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1A"/>
                </a:solidFill>
              </a:rPr>
              <a:t>▸ I booked a round trip ticket, first class.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Eu reservei uma passagem de ida e volta, primeira classe.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She missed the flight and the check-in.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Ela perdeu o voo e o check-in.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He agreed with the exchange rate abroad.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Ele concordou com a taxa de câmbio no exterior.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Not even the flight attendant disagreed.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Nem mesmo o comissário de bordo discordou.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Hold on! I need to try on many things.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Espere! Eu preciso experimentar muitas coisas.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1A1A1A"/>
                </a:solidFill>
              </a:rPr>
              <a:t>▸ Few people take care of the boarding pass.</a:t>
            </a:r>
          </a:p>
          <a:p>
            <a:pPr>
              <a:spcBef>
                <a:spcPts val="200"/>
              </a:spcBef>
            </a:pPr>
            <a:r>
              <a:rPr sz="1500" i="1">
                <a:solidFill>
                  <a:srgbClr val="777777"/>
                </a:solidFill>
              </a:rPr>
              <a:t>   Poucas pessoas cuidam do cartão de embarque.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99999"/>
                </a:solidFill>
              </a:rPr>
              <a:t>www.rawenglish.com.br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2715</TotalTime>
  <Words>1220</Words>
  <Application>Microsoft Macintosh PowerPoint</Application>
  <PresentationFormat>Widescreen</PresentationFormat>
  <Paragraphs>210</Paragraphs>
  <Slides>24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0" baseType="lpstr">
      <vt:lpstr>Calibri</vt:lpstr>
      <vt:lpstr>Trebuchet MS</vt:lpstr>
      <vt:lpstr>Wingdings</vt:lpstr>
      <vt:lpstr>Wingdings 3</vt:lpstr>
      <vt:lpstr>Arial</vt:lpstr>
      <vt:lpstr>Faceta</vt:lpstr>
      <vt:lpstr>Book Three</vt:lpstr>
      <vt:lpstr>BOOK THREE</vt:lpstr>
      <vt:lpstr>Apresentação do PowerPoint</vt:lpstr>
      <vt:lpstr>LESSON ONE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15.0030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 THREE</dc:title>
  <dc:creator>rawandre@gmail.com</dc:creator>
  <cp:lastModifiedBy>rawandre@gmail.com</cp:lastModifiedBy>
  <cp:revision>35</cp:revision>
  <dcterms:created xsi:type="dcterms:W3CDTF">2017-02-02T19:52:18Z</dcterms:created>
  <dcterms:modified xsi:type="dcterms:W3CDTF">2017-02-04T17:08:07Z</dcterms:modified>
</cp:coreProperties>
</file>